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افتتاح" id="{dbd70e61-aba2-dd8a-2971-9f624dc5ea59}">
          <p14:sldIdLst>
            <p14:sldId id="256"/>
            <p14:sldId id="257"/>
            <p14:sldId id="258"/>
          </p14:sldIdLst>
        </p14:section>
        <p14:section name="المشهد والقاعدة" id="{b5edc387-5e5a-b686-a436-7b3e425b2ac2}">
          <p14:sldIdLst>
            <p14:sldId id="259"/>
            <p14:sldId id="260"/>
            <p14:sldId id="261"/>
            <p14:sldId id="262"/>
          </p14:sldIdLst>
        </p14:section>
        <p14:section name="أبو ذر الغفاري" id="{62e947da-3822-d427-9f7b-60e6c5de77b8}">
          <p14:sldIdLst>
            <p14:sldId id="263"/>
            <p14:sldId id="264"/>
            <p14:sldId id="265"/>
          </p14:sldIdLst>
        </p14:section>
        <p14:section name="العلامة والعادة" id="{36c52e16-0b88-40f9-4b79-ee68011be211}">
          <p14:sldIdLst>
            <p14:sldId id="266"/>
            <p14:sldId id="267"/>
          </p14:sldIdLst>
        </p14:section>
        <p14:section name="الالتزام والتكليف" id="{3f8e3a88-b4ba-2d06-8acc-9485ec18e0b5}">
          <p14:sldIdLst>
            <p14:sldId id="268"/>
            <p14:sldId id="269"/>
            <p14:sldId id="270"/>
            <p14:sldId id="271"/>
            <p14:sldId id="272"/>
          </p14:sldIdLst>
        </p14:section>
        <p14:section name="احتياطي: أسئلة متوقعة" id="{af331e7f-7449-2ab1-6baf-82bf1d15cbde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خاطرة «صدق اللسان» — نسخة رفيق (14–18). المدة الكلية 12.5 دقيقة.
الرسالة الواحدة التي يخرج بها المشارك: زر «إعادة التوجيه» قد يجعلك شريكاً في الكذبة، فتثبّت قبل أن تنقل.
الترتيب: معضلة ← قصة ← قاعدة ← تطبيق ← التزام.
الأزمنة: الافتتاح 2 د · المشهد النبوي 2.5 د · القاعدة 2 د · أبو ذر 2.5 د · العلامة والعادة 2.5 د · الالتزام والتكليف 1 د.
اترك هذه الشريحة معروضة أثناء دخول المشاركين، ولا تبدأ بالشرح منها.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الافتتاح بسؤال — 2 د (مع الشريحة التالية).
قل: «وصلتك رسالة في مجموعة الصف: خبر عن زميل، أو مقطع مثير. كم شخصاً سيراه إذا أعدت إرساله؟»
اسمع تخمينين أو ثلاثة بسرعة، ثم انتقل إلى الحساب.
تنبيه: لا تعطِ الجواب الشرعي هنا. اترك السؤال معلّقاً.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احسبوها معاً، والأفضل أن تكتب الأرقام على اللوح وهم يحسبون قبل أن تعرض الشريحة.
مجموعة فيها 50 شخصاً، أعاد 3 منهم الإرسال إلى مجموعات بحجمها (150)، ثم 3 من كل مجموعة (450)، ثم (1,350).
بعد ثلاث نقلات: 50 + 150 + 450 + 1,350 = 2,000 شخص تقريباً من ضغطة واحدة.
✦ هذا مثال توضيحي لا إحصاء، فلا تقدّمه على أنه رقم حقيقي.
ثم اترك السؤال معلّقاً وانتقل إلى المشهد النبوي.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المشهد النبوي — 2.5 د (مع الشريحة التالية).
احكِ بهدوء: «رأى النبي ﷺ في منامه، ورؤيا الأنبياء حق، رجالاً يُعاقَبون في البرزخ. ومنهم رجل يُشقّ جانب فمه حتى قفاه، ثم الجانب الآخر، فيعود الأول كما كان، فيُشقّ من جديد… إلى يوم القيامة.»
ثم توقّف واسأل: «من هذا؟» واسمع إجابتين، ثم انتقل لقراءة الجواب من الحديث.
تنبيهات:
• لا تقرأ حديث سمرة كاملاً؛ فيه مشهد التنّور، ووصفه لا يناسب هذا العمر في هذا السياق. يكفي مشهد الكذّاب وتفسيره.
• لا تهوّل العقوبة. اذكرها بإيجاز ثم انتقل؛ التخويف وحده يورث النفور مع الناشئة.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اقرأ النص ببطء، ثم أشر إلى الكلمتين الملوّنتين.
النص 1 — البخاري، كتاب الجنائز (1386). وفي اللفظ الطويل، كتاب التعبير (7047): «فَإِنَّهُ الرَّجُلُ يَغْدُو مِنْ بَيْتِهِ، فَيَكْذِبُ الْكَذْبَةَ تَبْلُغُ الْآفَاقَ».
انقل النص من هنا، لا من النص المنسوخ من الإنترنت؛ ففيه «يُشَرْجِخُ» والصواب «يُشَرْشِرُ».
(فجوة للمراجع العلمي: تأكد من ترقيم 1386 و7047 على الطبعة المعتمدة عندكم.)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القاعدة — 2 د (مع الشريحة التالية).
قل: «كلمتان في الحديث هما المفتاح: (فَتُحْمَلُ عَنْهُ) و(تَبْلُغُ الآفَاقَ). العقوبة غُلّظت لأن الكذبة انتشرت، فضررها لم يقف عند صاحبها.»
ثم ارجع إلى رقم اللوح (2,000): «الآفاق في زمن الصحابة كانت تحتاج قوافل وشهوراً. اليوم تحتاج ضغطة واحدة.»
◐ تنبيه علمي: معنى «غُلّظت العقوبة لانتشار الضرر» استنتاج؛ ورد قريب منه في فتح الباري ولم يُتحقق من النص الحرفي، فلا تنسبه إلى ابن حجر بالجزم.
◐ والإسقاط على وسائل التواصل تنزيل استنتاجي على لفظ «تَبْلُغُ الآفَاقَ»، لا نص فيه مباشر؛ قدّمه على أنه تطبيق لا تفسير.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النقلة الأهم في الخاطرة. قلها ببطء، ثم توقّف لحظة:
«أكثرنا لا يخترع الكذبة. لكن كثيراً منا يحملها.»
ثم اقرأ النص 2: «كَفَى بِالْمَرْءِ كَذِباً أَنْ يُحَدِّثَ بِكُلِّ مَا سَمِعَ» — مسلم، المقدمة (5).
اربطها بزر إعادة التوجيه في الشريحة الثانية: من ينقل كل ما يصله بلا تثبّت، قد صار ناقلاً للكذب وإن لم يخترعه.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الصحابي الشاهد — المجموع 2.5 د لهذه الشريحة والشريحتين التاليتين.
قل: أقرب الصحابة إلى «صدق اللسان» تحديداً هو أبو ذر، لأن الشهادة النبوية له جاءت على «اللهجة»، أي الكلام نفسه.
الشهادة ✔ حسن: الترمذي (3801) من حديث عبد الله بن عمرو، وقال: حديث حسن. وله لفظ من حديث أبي ذر نفسه (3802) قال فيه الترمذي: حسن غريب.
اشرح الكلمات الثلاث بسرعة من البطاقات.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المشهد ✔: قدم مكة وأسلم سراً، ثم قال: لأصرخنّ بها بين ظهرانيهم. فأتى المسجد الحرام ونادى بالشهادتين بأعلى صوته، فضربوه حتى سقط، فأدركه العباس وحذّرهم أنه من غِفار وتجارتهم تمر بها. ثم عاد في الغد فقالها مرة ثانية. — البخاري، كتاب المناقب (3522).
الدرس: الكلمة الصادقة لها ثمن أحياناً، وأبو ذر دفعه مرتين.
اسأل سؤالاً سريعاً: «ما الثمن الذي قد تدفعه أنت اليوم إذا قلت: هذا الخبر غير صحيح، في مجموعة كلها تتداوله؟»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الضبط ✔ (لرفيق فقط): عيّر أبو ذر رجلاً بأمه، فقال له النبي ﷺ: «إِنَّكَ امْرُؤٌ فِيكَ جَاهِلِيَّةٌ» — البخاري (30)، مسلم (1661). فقبل التصحيح، وصار يُلبس غلامه مما يلبس هو.
الدرس: أصدق الناس لهجة صُحّح له حين جرح بلسانه. صدق اللسان ليس أن تقول كل ما في نفسك.
فائدة للنقاش: في المجموعات، «الصراحة» أحياناً غطاء للتجريح. الصادق يتثبّت مما يقول، ويختار كيف يقوله.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العلامة والعادة — 2.5 د (مع الشريحة التالية).
قل في سطر واحد: الكذب ليس زلة لسان فقط، بل علامة تتكوّن في الشخصية.
اربط الخصال الثلاث بالأسابيع: «إذا حدّث كذب» هذا الأسبوع، «إذا وعد أخلف» في 24 Oct، «إذا اؤتمن خان» مدخل شهر المسؤولية.
تنبيه مهم: لا تقل «من كذب فهو منافق». المقصود النفاق العملي، أي خصلة من خصال المنافقين لا النفاق الاعتقادي.
قل: «علامات حذّرنا منها النبي ﷺ لننتبه لها في أنفسنا، لا لنحكم بها على غيرنا». الفتى الذي يشعر بأنه وُصم لن يعترف بخطئه، وأول سلوك مقيس في ملف الصدق هو الاعتراف بالخطأ.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النص 4 ✔ متفق عليه — البخاري (6094)، مسلم (2607). وهو جزء من حديث «عليكم بالصدق» في ملف الصدق.
قل: الكذبة الواحدة ذنب يُتاب منه، والخطر أن تتكرر حتى تصير اسمك.
اربطها بالتكليف: «فلتر الثلاث» يكسر السلسلة عند «تتكرر».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آية مساندة (اختيارية لرفيق) — إن ضاق الوقت فتجاوز هذه الشريحة.
﴿يَا أَيُّهَا الَّذِينَ آمَنُوا إِن جَاءَكُمْ فَاسِقٌ بِنَبَإٍ فَتَبَيَّنُوا﴾ — الحجرات 6. وهي أصل «فلتر الثلاث» في القرآن.
جملة واحدة تكفي: «التبيّن أمر من الله قبل أن يكون نصيحة منّا.»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الالتزام والتكليف — 1 د (حتى نهاية العرض).
اشرح «فلتر الثلاث» بسرعة: قبل أن ترسل أي خبر أو صورة أو مقطع، أو تنقل كلاماً سمعته عن أحد، اسأل نفسك:
1. هل أنا متأكد أنه صحيح؟ 2. من مصدره؟ 3. هل في نقله نفع؟
إذا تعثّرت في سؤال واحد منها، لا ترسل.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التكليف: المدة أسبوع، من السبت 10 Oct إلى السبت 17 Oct، ويُعرض أحسن موقف في لقاء 17 Oct.
رفيق: تسجيل 3 مواقف + مهمة التحقق، في الهاتف ومجموعات التواصل.
مهمة التحقق: يجد خبراً منتشراً ثبت أنه كاذب، ويشرح للمجموعة في دقيقتين كيف عرف ذلك.
وزّع ورقة التسجيل الآن، واطلب من كل مشارك أن يكتب سطر الالتزام بخطه قبل أن يغادر.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ورقة التسجيل تُطبع نسخة لكل مشارك؛ هذه الشريحة للشرح فقط.
اشرح عموداً عموداً بمثال سريع: «يوم الأحد كدت أرسل مقطعاً عن…، أوقفني السؤال 2، فسألت عن مصدره ولم أرسله.»
قيد صريح: الورقة تقيس ما يقوله المشارك عن نفسه، لا السلوك الفعلي. للتقوية يُضاف إلى بطاقة وليّ الأمر الشهرية سؤال: «هل لاحظت أنه صار يتحقق قبل أن ينقل خبراً؟»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اختم بجملة الرسالة كما هي، ببطء، ثم اصمت لحظة قبل أن تنهي:
«زر إعادة التوجيه قد يجعلك شريكاً في الكذبة، فتثبّت قبل أن تنقل.»
ذكّرهم بلقاء 17 Oct (صدق الأحوال) وعرض أحسن موقف ومهمة التحقق.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شريحة احتياطية: لا تعرضها إلا إذا جاء السؤال في النقاش.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شريحة احتياطية.
سؤال «هل الكذب جائز أحياناً؟»: تُذكر المواطن الثلاثة ضبطاً لا توسيعاً، ولا تُفتح لسالِك.
لا تستشهد بـ«أيكون المؤمن كذاباً؟ قال: لا»؛ رواه مالك في الموطأ مرسلاً، والمرسل ضعيف عند المحدّثين، والمعنى ثابت في النص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edall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5029200" cy="5029200"/>
          </a:xfrm>
          <a:prstGeom prst="rect">
            <a:avLst/>
          </a:prstGeom>
        </p:spPr>
      </p:pic>
      <p:pic>
        <p:nvPicPr>
          <p:cNvPr id="3" name="forward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2880360"/>
            <a:ext cx="1097280" cy="10972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035040" y="1417320"/>
            <a:ext cx="5577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B89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خاطرة · صدق الأقوال</a:t>
            </a:r>
            <a:endParaRPr lang="ar-SA" sz="2000" dirty="0"/>
          </a:p>
        </p:txBody>
      </p:sp>
      <p:sp>
        <p:nvSpPr>
          <p:cNvPr id="5" name="Text 1"/>
          <p:cNvSpPr txBox="1"/>
          <p:nvPr/>
        </p:nvSpPr>
        <p:spPr>
          <a:xfrm>
            <a:off x="6035040" y="1920240"/>
            <a:ext cx="557784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صدق اللسان</a:t>
            </a:r>
            <a:endParaRPr lang="ar-SA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6035040" y="3246120"/>
            <a:ext cx="55778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E9D9B8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فتثبّت قبل أن تنقل</a:t>
            </a:r>
            <a:endParaRPr lang="ar-SA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6035040" y="4754880"/>
            <a:ext cx="55778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D5D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نادي مسجد حمزة - قمم</a:t>
            </a:r>
            <a:endParaRPr lang="ar-SA" sz="1600" dirty="0"/>
          </a:p>
          <a:p>
            <a:pPr rtl="1" algn="r" indent="0" marL="0">
              <a:buNone/>
            </a:pPr>
            <a:r>
              <a:rPr lang="ar-SA" altLang="en-US" sz="1600" dirty="0">
                <a:solidFill>
                  <a:srgbClr val="D5D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رفيق: من 14 إلى 18 سنة  ·  السبت 10 أكتوبر 2026</a:t>
            </a:r>
            <a:endParaRPr lang="ar-SA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 st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530352"/>
            <a:ext cx="384048" cy="38404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384048"/>
            <a:ext cx="10545775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 قبل أن نبدأ</a:t>
            </a:r>
            <a:endParaRPr lang="ar-SA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صدق اللسان · نادي قمم</a:t>
            </a:r>
            <a:endParaRPr lang="ar-SA" sz="1000" dirty="0"/>
          </a:p>
        </p:txBody>
      </p:sp>
      <p:sp>
        <p:nvSpPr>
          <p:cNvPr id="5" name="phone"/>
          <p:cNvSpPr/>
          <p:nvPr/>
        </p:nvSpPr>
        <p:spPr>
          <a:xfrm>
            <a:off x="914400" y="1325880"/>
            <a:ext cx="3291840" cy="5074920"/>
          </a:xfrm>
          <a:prstGeom prst="roundRect">
            <a:avLst>
              <a:gd name="adj" fmla="val 9722"/>
            </a:avLst>
          </a:prstGeom>
          <a:solidFill>
            <a:srgbClr val="17332D"/>
          </a:solidFill>
          <a:ln w="12700">
            <a:solidFill>
              <a:srgbClr val="1733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51560" y="1508760"/>
            <a:ext cx="3017520" cy="4709160"/>
          </a:xfrm>
          <a:prstGeom prst="roundRect">
            <a:avLst>
              <a:gd name="adj" fmla="val 6667"/>
            </a:avLst>
          </a:prstGeom>
          <a:solidFill>
            <a:srgbClr val="EEF2EE"/>
          </a:solidFill>
          <a:ln w="12700">
            <a:solidFill>
              <a:srgbClr val="EEF2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51560" y="1691640"/>
            <a:ext cx="3017520" cy="548640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88720" y="1691640"/>
            <a:ext cx="2743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مجموعة الصف</a:t>
            </a:r>
            <a:endParaRPr lang="ar-SA" sz="1300" dirty="0"/>
          </a:p>
          <a:p>
            <a:pPr rtl="1" algn="r" indent="0" marL="0">
              <a:buNone/>
            </a:pPr>
            <a:r>
              <a:rPr lang="ar-SA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عضواً</a:t>
            </a:r>
            <a:endParaRPr lang="ar-SA" sz="1300" dirty="0"/>
          </a:p>
        </p:txBody>
      </p:sp>
      <p:sp>
        <p:nvSpPr>
          <p:cNvPr id="9" name="Shape 6"/>
          <p:cNvSpPr/>
          <p:nvPr/>
        </p:nvSpPr>
        <p:spPr>
          <a:xfrm>
            <a:off x="1234440" y="25146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371600" y="2606040"/>
            <a:ext cx="23774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خبر عاجل عن زميلكم…</a:t>
            </a:r>
            <a:endParaRPr lang="ar-SA" sz="1400" dirty="0"/>
          </a:p>
          <a:p>
            <a:pPr rtl="1" algn="r" indent="0" marL="0">
              <a:buNone/>
            </a:pPr>
            <a:r>
              <a:rPr lang="ar-SA" altLang="en-US" sz="1400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شوفوا المقطع قبل يحذفونه!</a:t>
            </a:r>
            <a:endParaRPr lang="ar-SA" sz="1400" dirty="0"/>
          </a:p>
          <a:p>
            <a:pPr rtl="1" algn="r" indent="0" marL="0">
              <a:buNone/>
            </a:pPr>
            <a:r>
              <a:rPr lang="ar-SA" altLang="en-US" sz="11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مقطع · 0:42</a:t>
            </a:r>
            <a:endParaRPr lang="ar-SA" sz="1400" dirty="0"/>
          </a:p>
        </p:txBody>
      </p:sp>
      <p:sp>
        <p:nvSpPr>
          <p:cNvPr id="11" name="forward button"/>
          <p:cNvSpPr/>
          <p:nvPr/>
        </p:nvSpPr>
        <p:spPr>
          <a:xfrm>
            <a:off x="1463040" y="466344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B8914F"/>
          </a:solidFill>
          <a:ln w="12700">
            <a:solidFill>
              <a:srgbClr val="B8914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481888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00200" y="4663440"/>
            <a:ext cx="1508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إعادة توجيه</a:t>
            </a:r>
            <a:endParaRPr lang="ar-SA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234440" y="5486400"/>
            <a:ext cx="2651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ضغطة واحدة…</a:t>
            </a:r>
            <a:endParaRPr lang="ar-SA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937760" y="1828800"/>
            <a:ext cx="66751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400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وصلتك رسالة في مجموعة الصف: خبر عن زميل، أو مقطع مثير.</a:t>
            </a:r>
            <a:endParaRPr lang="ar-SA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4937760" y="2926080"/>
            <a:ext cx="66751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44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كم شخصاً سيراه إذا أعدت إرساله؟</a:t>
            </a:r>
            <a:endParaRPr lang="ar-SA" sz="4400" dirty="0"/>
          </a:p>
        </p:txBody>
      </p:sp>
      <p:sp>
        <p:nvSpPr>
          <p:cNvPr id="17" name="Shape 13"/>
          <p:cNvSpPr/>
          <p:nvPr/>
        </p:nvSpPr>
        <p:spPr>
          <a:xfrm>
            <a:off x="8412480" y="507492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DCE5DD"/>
          </a:solidFill>
          <a:ln w="12700">
            <a:solidFill>
              <a:srgbClr val="DCE5DD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412480" y="5074920"/>
            <a:ext cx="3200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خمّن رقماً… ثم نحسبه معاً</a:t>
            </a:r>
            <a:endParaRPr lang="ar-SA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 st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530352"/>
            <a:ext cx="384048" cy="38404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384048"/>
            <a:ext cx="10545775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احسبها معي</a:t>
            </a:r>
            <a:endParaRPr lang="ar-SA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صدق اللسان · نادي قمم</a:t>
            </a:r>
            <a:endParaRPr lang="ar-SA" sz="1000" dirty="0"/>
          </a:p>
        </p:txBody>
      </p:sp>
      <p:sp>
        <p:nvSpPr>
          <p:cNvPr id="5" name="step 50"/>
          <p:cNvSpPr/>
          <p:nvPr/>
        </p:nvSpPr>
        <p:spPr>
          <a:xfrm>
            <a:off x="10134295" y="2537460"/>
            <a:ext cx="1417320" cy="1417320"/>
          </a:xfrm>
          <a:prstGeom prst="ellipse">
            <a:avLst/>
          </a:prstGeom>
          <a:solidFill>
            <a:srgbClr val="DCE5DD"/>
          </a:solidFill>
          <a:ln w="12700">
            <a:solidFill>
              <a:srgbClr val="DCE5D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134295" y="2926080"/>
            <a:ext cx="14173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3000" b="1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ar-SA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9951415" y="4064508"/>
            <a:ext cx="1783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المجموعة الأولى</a:t>
            </a:r>
            <a:endParaRPr lang="ar-SA" sz="1400" dirty="0"/>
          </a:p>
        </p:txBody>
      </p:sp>
      <p:sp>
        <p:nvSpPr>
          <p:cNvPr id="8" name="step 150"/>
          <p:cNvSpPr/>
          <p:nvPr/>
        </p:nvSpPr>
        <p:spPr>
          <a:xfrm>
            <a:off x="8195767" y="2423160"/>
            <a:ext cx="1645920" cy="1645920"/>
          </a:xfrm>
          <a:prstGeom prst="ellipse">
            <a:avLst/>
          </a:prstGeom>
          <a:solidFill>
            <a:srgbClr val="C9D7CC"/>
          </a:solidFill>
          <a:ln w="12700">
            <a:solidFill>
              <a:srgbClr val="C9D7C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95767" y="2926080"/>
            <a:ext cx="16459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3000" b="1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ar-SA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012887" y="4178808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النقلة الأولى</a:t>
            </a:r>
            <a:endParaRPr lang="ar-SA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841687" y="2926080"/>
            <a:ext cx="29260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B89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ar-SA" sz="2800" dirty="0"/>
          </a:p>
        </p:txBody>
      </p:sp>
      <p:sp>
        <p:nvSpPr>
          <p:cNvPr id="12" name="step 450"/>
          <p:cNvSpPr/>
          <p:nvPr/>
        </p:nvSpPr>
        <p:spPr>
          <a:xfrm>
            <a:off x="6028639" y="2308860"/>
            <a:ext cx="1874520" cy="187452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28639" y="2926080"/>
            <a:ext cx="1874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</a:t>
            </a:r>
            <a:endParaRPr lang="ar-SA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5845759" y="4293108"/>
            <a:ext cx="22402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النقلة الثانية</a:t>
            </a:r>
            <a:endParaRPr lang="ar-SA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03159" y="2926080"/>
            <a:ext cx="29260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B89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ar-SA" sz="2800" dirty="0"/>
          </a:p>
        </p:txBody>
      </p:sp>
      <p:sp>
        <p:nvSpPr>
          <p:cNvPr id="16" name="step 1,350"/>
          <p:cNvSpPr/>
          <p:nvPr/>
        </p:nvSpPr>
        <p:spPr>
          <a:xfrm>
            <a:off x="3632911" y="2194560"/>
            <a:ext cx="2103120" cy="2103120"/>
          </a:xfrm>
          <a:prstGeom prst="ellipse">
            <a:avLst/>
          </a:prstGeom>
          <a:solidFill>
            <a:srgbClr val="17332D"/>
          </a:solidFill>
          <a:ln w="12700">
            <a:solidFill>
              <a:srgbClr val="17332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32911" y="2926080"/>
            <a:ext cx="21031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1,350</a:t>
            </a:r>
            <a:endParaRPr lang="ar-SA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3450031" y="4407408"/>
            <a:ext cx="2468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النقلة الثالثة</a:t>
            </a:r>
            <a:endParaRPr lang="ar-SA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736031" y="2926080"/>
            <a:ext cx="29260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B89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ar-SA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3340303" y="2926080"/>
            <a:ext cx="29260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3000" b="1" dirty="0">
                <a:solidFill>
                  <a:srgbClr val="B89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ar-SA" sz="3000" dirty="0"/>
          </a:p>
        </p:txBody>
      </p:sp>
      <p:sp>
        <p:nvSpPr>
          <p:cNvPr id="21" name="result card"/>
          <p:cNvSpPr/>
          <p:nvPr/>
        </p:nvSpPr>
        <p:spPr>
          <a:xfrm>
            <a:off x="548640" y="2148840"/>
            <a:ext cx="2700223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48640" y="2331720"/>
            <a:ext cx="2700223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5200" b="1" dirty="0">
                <a:solidFill>
                  <a:srgbClr val="9C4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2,000</a:t>
            </a:r>
            <a:endParaRPr lang="ar-SA" sz="52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3337560"/>
            <a:ext cx="2700223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شخص من ضغطة واحدة</a:t>
            </a:r>
            <a:endParaRPr lang="ar-SA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257800"/>
            <a:ext cx="11094415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من أعاد الإرسال: 3 أشخاص إلى مجموعات بحجمها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669280"/>
            <a:ext cx="11094415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توضيحي، لا إحصاء</a:t>
            </a:r>
            <a:endParaRPr lang="ar-SA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528" y="6400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97280" y="1463040"/>
            <a:ext cx="99971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D5D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رأى النبي ﷺ في منامه، ورؤيا الأنبياء حق، رجالاً يُعاقَبون في البرزخ…</a:t>
            </a:r>
            <a:endParaRPr lang="ar-SA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2286000"/>
            <a:ext cx="999713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ومنهم رجل يُعاقَب في فمه… ثم يعود كما كان، فيُعاقَب من جديد، إلى يوم القيامة.</a:t>
            </a:r>
            <a:endParaRPr lang="ar-SA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3657600"/>
            <a:ext cx="9997135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8800" b="1" dirty="0">
                <a:solidFill>
                  <a:srgbClr val="B89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هذا؟</a:t>
            </a:r>
            <a:endParaRPr lang="ar-SA" sz="8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 st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530352"/>
            <a:ext cx="384048" cy="38404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384048"/>
            <a:ext cx="10545775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الجواب من الحديث</a:t>
            </a:r>
            <a:endParaRPr lang="ar-SA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صدق اللسان · نادي قمم</a:t>
            </a:r>
            <a:endParaRPr lang="ar-SA" sz="1000" dirty="0"/>
          </a:p>
        </p:txBody>
      </p:sp>
      <p:sp>
        <p:nvSpPr>
          <p:cNvPr id="5" name="hadith card"/>
          <p:cNvSpPr/>
          <p:nvPr/>
        </p:nvSpPr>
        <p:spPr>
          <a:xfrm>
            <a:off x="548640" y="1371600"/>
            <a:ext cx="11094415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005840" y="1645920"/>
            <a:ext cx="9997135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3200" dirty="0">
                <a:solidFill>
                  <a:srgbClr val="17332D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الَّذِي رَأَيْتَهُ يُشَقُّ شِدْقُهُ فَكَذَّابٌ، يُحَدِّثُ بِالْكَذْبَةِ </a:t>
            </a:r>
            <a:pPr rtl="1" algn="ctr" indent="0" marL="0">
              <a:lnSpc>
                <a:spcPct val="115000"/>
              </a:lnSpc>
              <a:buNone/>
            </a:pPr>
            <a:r>
              <a:rPr lang="ar-SA" altLang="en-US" sz="3200" b="1" dirty="0">
                <a:solidFill>
                  <a:srgbClr val="9C4A2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فَتُحْمَلُ عَنْهُ</a:t>
            </a:r>
            <a:pPr rtl="1" algn="ctr" indent="0" marL="0">
              <a:lnSpc>
                <a:spcPct val="115000"/>
              </a:lnSpc>
              <a:buNone/>
            </a:pPr>
            <a:r>
              <a:rPr lang="ar-SA" altLang="en-US" sz="3200" dirty="0">
                <a:solidFill>
                  <a:srgbClr val="17332D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 حَتَّى </a:t>
            </a:r>
            <a:pPr rtl="1" algn="ctr" indent="0" marL="0">
              <a:lnSpc>
                <a:spcPct val="115000"/>
              </a:lnSpc>
              <a:buNone/>
            </a:pPr>
            <a:r>
              <a:rPr lang="ar-SA" altLang="en-US" sz="3200" b="1" dirty="0">
                <a:solidFill>
                  <a:srgbClr val="9C4A2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تَبْلُغَ الْآفَاقَ</a:t>
            </a:r>
            <a:pPr rtl="1" algn="ctr" indent="0" marL="0">
              <a:lnSpc>
                <a:spcPct val="115000"/>
              </a:lnSpc>
              <a:buNone/>
            </a:pPr>
            <a:r>
              <a:rPr lang="ar-SA" altLang="en-US" sz="3200" dirty="0">
                <a:solidFill>
                  <a:srgbClr val="17332D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، فَيُصْنَعُ بِهِ إِلَى يَوْمِ الْقِيَامَةِ</a:t>
            </a:r>
            <a:endParaRPr lang="ar-SA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3337560"/>
            <a:ext cx="1018001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البخاري، كتاب الجنائز (1386) — من حديث سمرة بن جندب</a:t>
            </a:r>
            <a:endParaRPr lang="ar-SA" sz="1300" dirty="0"/>
          </a:p>
        </p:txBody>
      </p:sp>
      <p:sp>
        <p:nvSpPr>
          <p:cNvPr id="8" name="keyword 1"/>
          <p:cNvSpPr/>
          <p:nvPr/>
        </p:nvSpPr>
        <p:spPr>
          <a:xfrm>
            <a:off x="6263640" y="4251960"/>
            <a:ext cx="5376672" cy="1554480"/>
          </a:xfrm>
          <a:prstGeom prst="roundRect">
            <a:avLst>
              <a:gd name="adj" fmla="val 8824"/>
            </a:avLst>
          </a:prstGeom>
          <a:solidFill>
            <a:srgbClr val="DCE5DD"/>
          </a:solidFill>
          <a:ln w="12700">
            <a:solidFill>
              <a:srgbClr val="DCE5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543032" y="4663440"/>
            <a:ext cx="731520" cy="73152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48463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37960" y="4480560"/>
            <a:ext cx="382219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9C4A2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فَتُحْمَلُ عَنْهُ</a:t>
            </a:r>
            <a:endParaRPr lang="ar-SA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5074920"/>
            <a:ext cx="382219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غيره يحملها وينقلها عنه</a:t>
            </a:r>
            <a:endParaRPr lang="ar-SA" sz="1700" dirty="0"/>
          </a:p>
        </p:txBody>
      </p:sp>
      <p:sp>
        <p:nvSpPr>
          <p:cNvPr id="13" name="keyword 2"/>
          <p:cNvSpPr/>
          <p:nvPr/>
        </p:nvSpPr>
        <p:spPr>
          <a:xfrm>
            <a:off x="548640" y="4251960"/>
            <a:ext cx="5376672" cy="1554480"/>
          </a:xfrm>
          <a:prstGeom prst="roundRect">
            <a:avLst>
              <a:gd name="adj" fmla="val 8824"/>
            </a:avLst>
          </a:prstGeom>
          <a:solidFill>
            <a:srgbClr val="DCE5DD"/>
          </a:solidFill>
          <a:ln w="12700">
            <a:solidFill>
              <a:srgbClr val="DCE5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28032" y="4663440"/>
            <a:ext cx="731520" cy="73152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48463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2960" y="4480560"/>
            <a:ext cx="382219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9C4A2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تَبْلُغَ الْآفَاقَ</a:t>
            </a:r>
            <a:endParaRPr lang="ar-SA" sz="28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5074920"/>
            <a:ext cx="382219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تنتشر حتى تصل إلى أبعد مكان</a:t>
            </a:r>
            <a:endParaRPr lang="ar-SA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 st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530352"/>
            <a:ext cx="384048" cy="38404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384048"/>
            <a:ext cx="10545775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«الآفاق»… كم تبعد اليوم؟</a:t>
            </a:r>
            <a:endParaRPr lang="ar-SA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صدق اللسان · نادي قمم</a:t>
            </a:r>
            <a:endParaRPr lang="ar-SA" sz="1000" dirty="0"/>
          </a:p>
        </p:txBody>
      </p:sp>
      <p:sp>
        <p:nvSpPr>
          <p:cNvPr id="5" name="then card"/>
          <p:cNvSpPr/>
          <p:nvPr/>
        </p:nvSpPr>
        <p:spPr>
          <a:xfrm>
            <a:off x="6492240" y="1463040"/>
            <a:ext cx="5148072" cy="402336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385048" y="1783080"/>
            <a:ext cx="1371600" cy="1371600"/>
          </a:xfrm>
          <a:prstGeom prst="ellipse">
            <a:avLst/>
          </a:prstGeom>
          <a:solidFill>
            <a:srgbClr val="E9D9B8"/>
          </a:solidFill>
          <a:ln w="12700">
            <a:solidFill>
              <a:srgbClr val="E9D9B8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057400"/>
            <a:ext cx="822960" cy="8229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766560" y="3337560"/>
            <a:ext cx="459943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زمن الصحابة</a:t>
            </a:r>
            <a:endParaRPr lang="ar-SA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6766560" y="3794760"/>
            <a:ext cx="459943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4000" b="1" dirty="0">
                <a:solidFill>
                  <a:srgbClr val="9C4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قوافل وشهور</a:t>
            </a:r>
            <a:endParaRPr lang="ar-SA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6766560" y="4663440"/>
            <a:ext cx="459943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حتى يصل الخبر إلى بلد آخر</a:t>
            </a:r>
            <a:endParaRPr lang="ar-SA" sz="1600" dirty="0"/>
          </a:p>
        </p:txBody>
      </p:sp>
      <p:sp>
        <p:nvSpPr>
          <p:cNvPr id="11" name="Shape 7"/>
          <p:cNvSpPr/>
          <p:nvPr/>
        </p:nvSpPr>
        <p:spPr>
          <a:xfrm>
            <a:off x="5596128" y="3200400"/>
            <a:ext cx="822960" cy="548640"/>
          </a:xfrm>
          <a:prstGeom prst="leftArrow">
            <a:avLst/>
          </a:prstGeom>
          <a:solidFill>
            <a:srgbClr val="B8914F"/>
          </a:solidFill>
          <a:ln w="12700">
            <a:solidFill>
              <a:srgbClr val="B8914F"/>
            </a:solidFill>
            <a:prstDash val="solid"/>
          </a:ln>
        </p:spPr>
      </p:sp>
      <p:sp>
        <p:nvSpPr>
          <p:cNvPr id="12" name="now card"/>
          <p:cNvSpPr/>
          <p:nvPr/>
        </p:nvSpPr>
        <p:spPr>
          <a:xfrm>
            <a:off x="548640" y="1463040"/>
            <a:ext cx="4965192" cy="4023360"/>
          </a:xfrm>
          <a:prstGeom prst="roundRect">
            <a:avLst>
              <a:gd name="adj" fmla="val 3409"/>
            </a:avLst>
          </a:prstGeom>
          <a:solidFill>
            <a:srgbClr val="17332D"/>
          </a:solidFill>
          <a:ln w="12700">
            <a:solidFill>
              <a:srgbClr val="1733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350008" y="1783080"/>
            <a:ext cx="1371600" cy="137160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2075688"/>
            <a:ext cx="777240" cy="7772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2960" y="3337560"/>
            <a:ext cx="441655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rgbClr val="C9D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اليوم</a:t>
            </a:r>
            <a:endParaRPr lang="ar-SA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822960" y="3794760"/>
            <a:ext cx="441655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4000" b="1" dirty="0">
                <a:solidFill>
                  <a:srgbClr val="B89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ضغطة واحدة</a:t>
            </a:r>
            <a:endParaRPr lang="ar-SA" sz="40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663440"/>
            <a:ext cx="441655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وثوانٍ معدودة</a:t>
            </a:r>
            <a:endParaRPr lang="ar-SA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العقوبة غُلّظت لأن الكذبة انتشرت؛ فضررها لم يقف عند صاحبها</a:t>
            </a:r>
            <a:endParaRPr lang="ar-SA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685800"/>
            <a:ext cx="1097280" cy="1097280"/>
          </a:xfrm>
          <a:prstGeom prst="ellipse">
            <a:avLst/>
          </a:prstGeom>
          <a:solidFill>
            <a:srgbClr val="2F5D50"/>
          </a:solidFill>
          <a:ln w="19050">
            <a:solidFill>
              <a:srgbClr val="B8914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240" y="941832"/>
            <a:ext cx="585216" cy="5852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965960"/>
            <a:ext cx="10362895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D5D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أكثرنا لا يخترع الكذبة…</a:t>
            </a:r>
            <a:endParaRPr lang="ar-SA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651760"/>
            <a:ext cx="10362895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لكن كثيراً منا يحملها</a:t>
            </a:r>
            <a:endParaRPr lang="ar-SA" sz="5200" dirty="0"/>
          </a:p>
        </p:txBody>
      </p:sp>
      <p:sp>
        <p:nvSpPr>
          <p:cNvPr id="6" name="Shape 3"/>
          <p:cNvSpPr/>
          <p:nvPr/>
        </p:nvSpPr>
        <p:spPr>
          <a:xfrm>
            <a:off x="1828800" y="4069080"/>
            <a:ext cx="8534095" cy="1600200"/>
          </a:xfrm>
          <a:prstGeom prst="roundRect">
            <a:avLst>
              <a:gd name="adj" fmla="val 857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B8914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011680" y="4206240"/>
            <a:ext cx="81683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3600" b="1" dirty="0">
                <a:solidFill>
                  <a:srgbClr val="B8914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«كَفَى بِالْمَرْءِ كَذِباً أَنْ يُحَدِّثَ بِكُلِّ مَا سَمِعَ»</a:t>
            </a:r>
            <a:endParaRPr lang="ar-SA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2011680" y="5120640"/>
            <a:ext cx="816833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C9D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مسلم، المقدمة (5)</a:t>
            </a:r>
            <a:endParaRPr lang="ar-SA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edall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215" y="146304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51215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أبو ذر</a:t>
            </a:r>
            <a:endParaRPr lang="ar-SA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8351215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rgbClr val="B89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الغفاري رضي الله عنه</a:t>
            </a:r>
            <a:endParaRPr lang="ar-SA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97280"/>
            <a:ext cx="7406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9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شهادة نبوية على «اللهجة»: الكلام نفسه</a:t>
            </a:r>
            <a:endParaRPr lang="ar-SA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45920"/>
            <a:ext cx="740664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3800" b="1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«مَا أَظَلَّتِ الْخَضْرَاءُ، وَلَا أَقَلَّتِ الْغَبْرَاءُ، مِنْ ذِي لَهْجَةٍ أَصْدَقَ مِنْ أَبِي ذَرٍّ»</a:t>
            </a:r>
            <a:endParaRPr lang="ar-SA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703320"/>
            <a:ext cx="7406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C9D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الترمذي (3801)، وقال: حديث حسن</a:t>
            </a:r>
            <a:endParaRPr lang="ar-SA" sz="1300" dirty="0"/>
          </a:p>
        </p:txBody>
      </p:sp>
      <p:sp>
        <p:nvSpPr>
          <p:cNvPr id="8" name="Shape 5"/>
          <p:cNvSpPr/>
          <p:nvPr/>
        </p:nvSpPr>
        <p:spPr>
          <a:xfrm>
            <a:off x="5715000" y="4434840"/>
            <a:ext cx="2331720" cy="1097280"/>
          </a:xfrm>
          <a:prstGeom prst="roundRect">
            <a:avLst>
              <a:gd name="adj" fmla="val 10000"/>
            </a:avLst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15000" y="4526280"/>
            <a:ext cx="2331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B89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الخضراء</a:t>
            </a:r>
            <a:endParaRPr lang="ar-SA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715000" y="4983480"/>
            <a:ext cx="2331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السماء</a:t>
            </a:r>
            <a:endParaRPr lang="ar-SA" sz="1600" dirty="0"/>
          </a:p>
        </p:txBody>
      </p:sp>
      <p:sp>
        <p:nvSpPr>
          <p:cNvPr id="11" name="Shape 8"/>
          <p:cNvSpPr/>
          <p:nvPr/>
        </p:nvSpPr>
        <p:spPr>
          <a:xfrm>
            <a:off x="3177540" y="4434840"/>
            <a:ext cx="2331720" cy="1097280"/>
          </a:xfrm>
          <a:prstGeom prst="roundRect">
            <a:avLst>
              <a:gd name="adj" fmla="val 10000"/>
            </a:avLst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77540" y="4526280"/>
            <a:ext cx="2331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B89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الغبراء</a:t>
            </a:r>
            <a:endParaRPr lang="ar-SA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3177540" y="4983480"/>
            <a:ext cx="2331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الأرض</a:t>
            </a:r>
            <a:endParaRPr lang="ar-SA" sz="1600" dirty="0"/>
          </a:p>
        </p:txBody>
      </p:sp>
      <p:sp>
        <p:nvSpPr>
          <p:cNvPr id="14" name="Shape 11"/>
          <p:cNvSpPr/>
          <p:nvPr/>
        </p:nvSpPr>
        <p:spPr>
          <a:xfrm>
            <a:off x="640080" y="4434840"/>
            <a:ext cx="2331720" cy="1097280"/>
          </a:xfrm>
          <a:prstGeom prst="roundRect">
            <a:avLst>
              <a:gd name="adj" fmla="val 10000"/>
            </a:avLst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4526280"/>
            <a:ext cx="2331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B89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ذو لهجة</a:t>
            </a:r>
            <a:endParaRPr lang="ar-SA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4983480"/>
            <a:ext cx="2331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صاحب الكلام</a:t>
            </a:r>
            <a:endParaRPr lang="ar-SA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 st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530352"/>
            <a:ext cx="384048" cy="38404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384048"/>
            <a:ext cx="10545775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الثمن: قالها… ثم قالها مرة ثانية</a:t>
            </a:r>
            <a:endParaRPr lang="ar-SA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صدق اللسان · نادي قمم</a:t>
            </a:r>
            <a:endParaRPr lang="ar-SA" sz="1000" dirty="0"/>
          </a:p>
        </p:txBody>
      </p:sp>
      <p:sp>
        <p:nvSpPr>
          <p:cNvPr id="5" name="step 1"/>
          <p:cNvSpPr/>
          <p:nvPr/>
        </p:nvSpPr>
        <p:spPr>
          <a:xfrm>
            <a:off x="9037015" y="1600200"/>
            <a:ext cx="2606040" cy="30175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928555" y="1874520"/>
            <a:ext cx="822960" cy="822960"/>
          </a:xfrm>
          <a:prstGeom prst="ellipse">
            <a:avLst/>
          </a:prstGeom>
          <a:solidFill>
            <a:srgbClr val="DCE5DD"/>
          </a:solidFill>
          <a:ln w="12700">
            <a:solidFill>
              <a:srgbClr val="DCE5DD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9723" y="2075688"/>
            <a:ext cx="420624" cy="42062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74175" y="2834640"/>
            <a:ext cx="2331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قدم مكة وأسلم سراً</a:t>
            </a:r>
            <a:endParaRPr lang="ar-SA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9174175" y="3337560"/>
            <a:ext cx="23317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ثم قال: لأصرخنّ بها بين ظهرانيهم</a:t>
            </a:r>
            <a:endParaRPr lang="ar-SA" sz="1400" dirty="0"/>
          </a:p>
        </p:txBody>
      </p:sp>
      <p:sp>
        <p:nvSpPr>
          <p:cNvPr id="10" name="Shape 6"/>
          <p:cNvSpPr/>
          <p:nvPr/>
        </p:nvSpPr>
        <p:spPr>
          <a:xfrm>
            <a:off x="8817559" y="2194560"/>
            <a:ext cx="201168" cy="201168"/>
          </a:xfrm>
          <a:prstGeom prst="leftArrow">
            <a:avLst/>
          </a:prstGeom>
          <a:solidFill>
            <a:srgbClr val="B8914F"/>
          </a:solidFill>
          <a:ln w="12700">
            <a:solidFill>
              <a:srgbClr val="B8914F"/>
            </a:solidFill>
            <a:prstDash val="solid"/>
          </a:ln>
        </p:spPr>
      </p:sp>
      <p:sp>
        <p:nvSpPr>
          <p:cNvPr id="11" name="step 2"/>
          <p:cNvSpPr/>
          <p:nvPr/>
        </p:nvSpPr>
        <p:spPr>
          <a:xfrm>
            <a:off x="6193231" y="1600200"/>
            <a:ext cx="2606040" cy="30175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084771" y="1874520"/>
            <a:ext cx="822960" cy="822960"/>
          </a:xfrm>
          <a:prstGeom prst="ellipse">
            <a:avLst/>
          </a:prstGeom>
          <a:solidFill>
            <a:srgbClr val="DCE5DD"/>
          </a:solidFill>
          <a:ln w="12700">
            <a:solidFill>
              <a:srgbClr val="DCE5D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939" y="2075688"/>
            <a:ext cx="420624" cy="4206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330391" y="2834640"/>
            <a:ext cx="2331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نادى بالشهادتين</a:t>
            </a:r>
            <a:endParaRPr lang="ar-SA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6330391" y="3337560"/>
            <a:ext cx="23317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المسجد الحرام بأعلى صوته</a:t>
            </a:r>
            <a:endParaRPr lang="ar-SA" sz="1400" dirty="0"/>
          </a:p>
        </p:txBody>
      </p:sp>
      <p:sp>
        <p:nvSpPr>
          <p:cNvPr id="16" name="Shape 11"/>
          <p:cNvSpPr/>
          <p:nvPr/>
        </p:nvSpPr>
        <p:spPr>
          <a:xfrm>
            <a:off x="5973775" y="2194560"/>
            <a:ext cx="201168" cy="201168"/>
          </a:xfrm>
          <a:prstGeom prst="leftArrow">
            <a:avLst/>
          </a:prstGeom>
          <a:solidFill>
            <a:srgbClr val="B8914F"/>
          </a:solidFill>
          <a:ln w="12700">
            <a:solidFill>
              <a:srgbClr val="B8914F"/>
            </a:solidFill>
            <a:prstDash val="solid"/>
          </a:ln>
        </p:spPr>
      </p:sp>
      <p:sp>
        <p:nvSpPr>
          <p:cNvPr id="17" name="step 3"/>
          <p:cNvSpPr/>
          <p:nvPr/>
        </p:nvSpPr>
        <p:spPr>
          <a:xfrm>
            <a:off x="3349447" y="1600200"/>
            <a:ext cx="2606040" cy="30175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240987" y="1874520"/>
            <a:ext cx="822960" cy="822960"/>
          </a:xfrm>
          <a:prstGeom prst="ellipse">
            <a:avLst/>
          </a:prstGeom>
          <a:solidFill>
            <a:srgbClr val="DCE5DD"/>
          </a:solidFill>
          <a:ln w="12700">
            <a:solidFill>
              <a:srgbClr val="DCE5DD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2155" y="2075688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486607" y="2834640"/>
            <a:ext cx="2331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ضربوه حتى سقط</a:t>
            </a:r>
            <a:endParaRPr lang="ar-SA" sz="1900" dirty="0"/>
          </a:p>
        </p:txBody>
      </p:sp>
      <p:sp>
        <p:nvSpPr>
          <p:cNvPr id="21" name="Text 15"/>
          <p:cNvSpPr txBox="1"/>
          <p:nvPr/>
        </p:nvSpPr>
        <p:spPr>
          <a:xfrm>
            <a:off x="3486607" y="3337560"/>
            <a:ext cx="23317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فأدركه العباس وحذّرهم أنه من غِفار وتجارتهم تمر بها</a:t>
            </a:r>
            <a:endParaRPr lang="ar-SA" sz="1400" dirty="0"/>
          </a:p>
        </p:txBody>
      </p:sp>
      <p:sp>
        <p:nvSpPr>
          <p:cNvPr id="22" name="Shape 16"/>
          <p:cNvSpPr/>
          <p:nvPr/>
        </p:nvSpPr>
        <p:spPr>
          <a:xfrm>
            <a:off x="3129991" y="2194560"/>
            <a:ext cx="201168" cy="201168"/>
          </a:xfrm>
          <a:prstGeom prst="leftArrow">
            <a:avLst/>
          </a:prstGeom>
          <a:solidFill>
            <a:srgbClr val="B8914F"/>
          </a:solidFill>
          <a:ln w="12700">
            <a:solidFill>
              <a:srgbClr val="B8914F"/>
            </a:solidFill>
            <a:prstDash val="solid"/>
          </a:ln>
        </p:spPr>
      </p:sp>
      <p:sp>
        <p:nvSpPr>
          <p:cNvPr id="23" name="step 4"/>
          <p:cNvSpPr/>
          <p:nvPr/>
        </p:nvSpPr>
        <p:spPr>
          <a:xfrm>
            <a:off x="505663" y="1600200"/>
            <a:ext cx="2606040" cy="3017520"/>
          </a:xfrm>
          <a:prstGeom prst="roundRect">
            <a:avLst>
              <a:gd name="adj" fmla="val 5263"/>
            </a:avLst>
          </a:prstGeom>
          <a:solidFill>
            <a:srgbClr val="17332D"/>
          </a:solidFill>
          <a:ln w="12700">
            <a:solidFill>
              <a:srgbClr val="1733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397203" y="1874520"/>
            <a:ext cx="822960" cy="822960"/>
          </a:xfrm>
          <a:prstGeom prst="ellipse">
            <a:avLst/>
          </a:prstGeom>
          <a:solidFill>
            <a:srgbClr val="B8914F"/>
          </a:solidFill>
          <a:ln w="12700">
            <a:solidFill>
              <a:srgbClr val="B8914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8371" y="2075688"/>
            <a:ext cx="420624" cy="42062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42823" y="2834640"/>
            <a:ext cx="2331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B89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عاد في الغد</a:t>
            </a:r>
            <a:endParaRPr lang="ar-SA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642823" y="3337560"/>
            <a:ext cx="23317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فقالها مرة ثانية</a:t>
            </a:r>
            <a:endParaRPr lang="ar-SA" sz="1400" dirty="0"/>
          </a:p>
        </p:txBody>
      </p:sp>
      <p:sp>
        <p:nvSpPr>
          <p:cNvPr id="28" name="Shape 21"/>
          <p:cNvSpPr/>
          <p:nvPr/>
        </p:nvSpPr>
        <p:spPr>
          <a:xfrm>
            <a:off x="548640" y="4937760"/>
            <a:ext cx="11094415" cy="868680"/>
          </a:xfrm>
          <a:prstGeom prst="roundRect">
            <a:avLst>
              <a:gd name="adj" fmla="val 15789"/>
            </a:avLst>
          </a:prstGeom>
          <a:solidFill>
            <a:srgbClr val="E9D9B8"/>
          </a:solidFill>
          <a:ln w="12700">
            <a:solidFill>
              <a:srgbClr val="E9D9B8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731520" y="4937760"/>
            <a:ext cx="10728655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الكلمة الصادقة لها ثمن أحياناً… وأبو ذر دفعه مرتين</a:t>
            </a:r>
            <a:endParaRPr lang="ar-SA" sz="2400" dirty="0"/>
          </a:p>
        </p:txBody>
      </p:sp>
      <p:sp>
        <p:nvSpPr>
          <p:cNvPr id="30" name="Text 23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البخاري، كتاب المناقب (3522)</a:t>
            </a:r>
            <a:endParaRPr lang="ar-SA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 st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530352"/>
            <a:ext cx="384048" cy="38404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384048"/>
            <a:ext cx="10545775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الضبط: الصدق لا يعني الحدّة</a:t>
            </a:r>
            <a:endParaRPr lang="ar-SA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صدق اللسان · نادي قمم</a:t>
            </a:r>
            <a:endParaRPr lang="ar-SA" sz="1000" dirty="0"/>
          </a:p>
        </p:txBody>
      </p:sp>
      <p:sp>
        <p:nvSpPr>
          <p:cNvPr id="5" name="flow 1"/>
          <p:cNvSpPr/>
          <p:nvPr/>
        </p:nvSpPr>
        <p:spPr>
          <a:xfrm>
            <a:off x="8214055" y="1508760"/>
            <a:ext cx="342900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442655" y="1737360"/>
            <a:ext cx="2971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حدث</a:t>
            </a:r>
            <a:endParaRPr lang="ar-SA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442655" y="2194560"/>
            <a:ext cx="29718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21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عيّر أبو ذر رجلاً بأمه</a:t>
            </a:r>
            <a:endParaRPr lang="ar-SA" sz="2100" dirty="0"/>
          </a:p>
        </p:txBody>
      </p:sp>
      <p:sp>
        <p:nvSpPr>
          <p:cNvPr id="8" name="Shape 5"/>
          <p:cNvSpPr/>
          <p:nvPr/>
        </p:nvSpPr>
        <p:spPr>
          <a:xfrm>
            <a:off x="7894015" y="2514600"/>
            <a:ext cx="274320" cy="320040"/>
          </a:xfrm>
          <a:prstGeom prst="leftArrow">
            <a:avLst/>
          </a:prstGeom>
          <a:solidFill>
            <a:srgbClr val="B8914F"/>
          </a:solidFill>
          <a:ln w="12700">
            <a:solidFill>
              <a:srgbClr val="B8914F"/>
            </a:solidFill>
            <a:prstDash val="solid"/>
          </a:ln>
        </p:spPr>
      </p:sp>
      <p:sp>
        <p:nvSpPr>
          <p:cNvPr id="9" name="flow 2"/>
          <p:cNvSpPr/>
          <p:nvPr/>
        </p:nvSpPr>
        <p:spPr>
          <a:xfrm>
            <a:off x="4419295" y="1508760"/>
            <a:ext cx="3429000" cy="2377440"/>
          </a:xfrm>
          <a:prstGeom prst="roundRect">
            <a:avLst>
              <a:gd name="adj" fmla="val 5769"/>
            </a:avLst>
          </a:prstGeom>
          <a:solidFill>
            <a:srgbClr val="17332D"/>
          </a:solidFill>
          <a:ln w="12700">
            <a:solidFill>
              <a:srgbClr val="1733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647895" y="1737360"/>
            <a:ext cx="2971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C9D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التصحيح النبوي</a:t>
            </a:r>
            <a:endParaRPr lang="ar-SA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647895" y="2194560"/>
            <a:ext cx="29718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3200" b="1" dirty="0">
                <a:solidFill>
                  <a:srgbClr val="B8914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«إِنَّكَ امْرُؤٌ فِيكَ جَاهِلِيَّةٌ»</a:t>
            </a:r>
            <a:endParaRPr lang="ar-SA" sz="3200" dirty="0"/>
          </a:p>
        </p:txBody>
      </p:sp>
      <p:sp>
        <p:nvSpPr>
          <p:cNvPr id="12" name="Shape 9"/>
          <p:cNvSpPr/>
          <p:nvPr/>
        </p:nvSpPr>
        <p:spPr>
          <a:xfrm>
            <a:off x="4099255" y="2514600"/>
            <a:ext cx="274320" cy="320040"/>
          </a:xfrm>
          <a:prstGeom prst="leftArrow">
            <a:avLst/>
          </a:prstGeom>
          <a:solidFill>
            <a:srgbClr val="B8914F"/>
          </a:solidFill>
          <a:ln w="12700">
            <a:solidFill>
              <a:srgbClr val="B8914F"/>
            </a:solidFill>
            <a:prstDash val="solid"/>
          </a:ln>
        </p:spPr>
      </p:sp>
      <p:sp>
        <p:nvSpPr>
          <p:cNvPr id="13" name="flow 3"/>
          <p:cNvSpPr/>
          <p:nvPr/>
        </p:nvSpPr>
        <p:spPr>
          <a:xfrm>
            <a:off x="624535" y="1508760"/>
            <a:ext cx="342900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53135" y="1737360"/>
            <a:ext cx="2971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الاستجابة</a:t>
            </a:r>
            <a:endParaRPr lang="ar-SA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53135" y="2194560"/>
            <a:ext cx="29718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21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التصحيح، وصار يُلبس غلامه مما يلبس هو</a:t>
            </a:r>
            <a:endParaRPr lang="ar-SA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977640"/>
            <a:ext cx="11094415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البخاري (30)، مسلم (1661)</a:t>
            </a:r>
            <a:endParaRPr lang="ar-SA" sz="1200" dirty="0"/>
          </a:p>
        </p:txBody>
      </p:sp>
      <p:sp>
        <p:nvSpPr>
          <p:cNvPr id="17" name="lesson"/>
          <p:cNvSpPr/>
          <p:nvPr/>
        </p:nvSpPr>
        <p:spPr>
          <a:xfrm>
            <a:off x="548640" y="4526280"/>
            <a:ext cx="11094415" cy="1371600"/>
          </a:xfrm>
          <a:prstGeom prst="roundRect">
            <a:avLst>
              <a:gd name="adj" fmla="val 10000"/>
            </a:avLst>
          </a:prstGeom>
          <a:solidFill>
            <a:srgbClr val="DCE5DD"/>
          </a:solidFill>
          <a:ln w="12700">
            <a:solidFill>
              <a:srgbClr val="DCE5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4873752"/>
            <a:ext cx="685800" cy="6858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22960" y="4617720"/>
            <a:ext cx="9722815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أصدق الناس لهجة صُحّح له حين جرح بلسانه.</a:t>
            </a:r>
            <a:endParaRPr lang="ar-SA" sz="2100" dirty="0"/>
          </a:p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9C4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صدق اللسان ليس أن تقول كل ما في نفسك.</a:t>
            </a:r>
            <a:endParaRPr lang="ar-SA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 st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530352"/>
            <a:ext cx="384048" cy="38404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384048"/>
            <a:ext cx="10545775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علامة تتكوّن في الشخصية</a:t>
            </a:r>
            <a:endParaRPr lang="ar-SA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صدق اللسان · نادي قمم</a:t>
            </a:r>
            <a:endParaRPr lang="ar-SA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11094415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3400" b="1" dirty="0">
                <a:solidFill>
                  <a:srgbClr val="17332D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«آيَةُ الْمُنَافِقِ ثَلَاثٌ: </a:t>
            </a:r>
            <a:pPr rtl="1" algn="ctr" indent="0" marL="0">
              <a:buNone/>
            </a:pPr>
            <a:r>
              <a:rPr lang="ar-SA" altLang="en-US" sz="3400" b="1" dirty="0">
                <a:solidFill>
                  <a:srgbClr val="9C4A2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إِذَا حَدَّثَ كَذَبَ</a:t>
            </a:r>
            <a:pPr rtl="1" algn="ctr" indent="0" marL="0">
              <a:buNone/>
            </a:pPr>
            <a:r>
              <a:rPr lang="ar-SA" altLang="en-US" sz="3400" b="1" dirty="0">
                <a:solidFill>
                  <a:srgbClr val="17332D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، وَإِذَا وَعَدَ أَخْلَفَ، وَإِذَا اؤْتُمِنَ خَانَ»</a:t>
            </a:r>
            <a:endParaRPr lang="ar-SA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03120"/>
            <a:ext cx="11094415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متفق عليه: البخاري (33)، مسلم (59)</a:t>
            </a:r>
            <a:endParaRPr lang="ar-SA" sz="1200" dirty="0"/>
          </a:p>
        </p:txBody>
      </p:sp>
      <p:sp>
        <p:nvSpPr>
          <p:cNvPr id="7" name="trait 1"/>
          <p:cNvSpPr/>
          <p:nvPr/>
        </p:nvSpPr>
        <p:spPr>
          <a:xfrm>
            <a:off x="8122615" y="2697480"/>
            <a:ext cx="3520440" cy="2331720"/>
          </a:xfrm>
          <a:prstGeom prst="roundRect">
            <a:avLst>
              <a:gd name="adj" fmla="val 5882"/>
            </a:avLst>
          </a:prstGeom>
          <a:solidFill>
            <a:srgbClr val="17332D"/>
          </a:solidFill>
          <a:ln w="12700">
            <a:solidFill>
              <a:srgbClr val="1733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591495" y="2971800"/>
            <a:ext cx="731520" cy="731520"/>
          </a:xfrm>
          <a:prstGeom prst="ellipse">
            <a:avLst/>
          </a:prstGeom>
          <a:solidFill>
            <a:srgbClr val="B8914F"/>
          </a:solidFill>
          <a:ln w="12700">
            <a:solidFill>
              <a:srgbClr val="B8914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31546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396935" y="3108960"/>
            <a:ext cx="2057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89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هذا الأسبوع</a:t>
            </a:r>
            <a:endParaRPr lang="ar-SA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396935" y="3840480"/>
            <a:ext cx="29718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 حدّث كذب</a:t>
            </a:r>
            <a:endParaRPr lang="ar-SA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8396935" y="4389120"/>
            <a:ext cx="2971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C9D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صدق الأقوال</a:t>
            </a:r>
            <a:endParaRPr lang="ar-SA" sz="1500" dirty="0"/>
          </a:p>
        </p:txBody>
      </p:sp>
      <p:sp>
        <p:nvSpPr>
          <p:cNvPr id="13" name="trait 2"/>
          <p:cNvSpPr/>
          <p:nvPr/>
        </p:nvSpPr>
        <p:spPr>
          <a:xfrm>
            <a:off x="4245559" y="2697480"/>
            <a:ext cx="3520440" cy="23317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714439" y="2971800"/>
            <a:ext cx="731520" cy="731520"/>
          </a:xfrm>
          <a:prstGeom prst="ellipse">
            <a:avLst/>
          </a:prstGeom>
          <a:solidFill>
            <a:srgbClr val="DCE5DD"/>
          </a:solidFill>
          <a:ln w="12700">
            <a:solidFill>
              <a:srgbClr val="DCE5D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7319" y="31546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519879" y="3108960"/>
            <a:ext cx="2057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أكتوبر</a:t>
            </a:r>
            <a:endParaRPr lang="ar-SA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519879" y="3840480"/>
            <a:ext cx="29718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 وعد أخلف</a:t>
            </a:r>
            <a:endParaRPr lang="ar-SA" sz="2600" dirty="0"/>
          </a:p>
        </p:txBody>
      </p:sp>
      <p:sp>
        <p:nvSpPr>
          <p:cNvPr id="18" name="Text 13"/>
          <p:cNvSpPr txBox="1"/>
          <p:nvPr/>
        </p:nvSpPr>
        <p:spPr>
          <a:xfrm>
            <a:off x="4519879" y="4389120"/>
            <a:ext cx="2971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صدق الأعمال</a:t>
            </a:r>
            <a:endParaRPr lang="ar-SA" sz="1500" dirty="0"/>
          </a:p>
        </p:txBody>
      </p:sp>
      <p:sp>
        <p:nvSpPr>
          <p:cNvPr id="19" name="trait 3"/>
          <p:cNvSpPr/>
          <p:nvPr/>
        </p:nvSpPr>
        <p:spPr>
          <a:xfrm>
            <a:off x="368503" y="2697480"/>
            <a:ext cx="3520440" cy="23317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837383" y="2971800"/>
            <a:ext cx="731520" cy="731520"/>
          </a:xfrm>
          <a:prstGeom prst="ellipse">
            <a:avLst/>
          </a:prstGeom>
          <a:solidFill>
            <a:srgbClr val="DCE5DD"/>
          </a:solidFill>
          <a:ln w="12700">
            <a:solidFill>
              <a:srgbClr val="DCE5D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0263" y="31546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42823" y="3108960"/>
            <a:ext cx="2057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قريباً</a:t>
            </a:r>
            <a:endParaRPr lang="ar-SA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2823" y="3840480"/>
            <a:ext cx="29718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 اؤتمن خان</a:t>
            </a:r>
            <a:endParaRPr lang="ar-SA" sz="2600" dirty="0"/>
          </a:p>
        </p:txBody>
      </p:sp>
      <p:sp>
        <p:nvSpPr>
          <p:cNvPr id="24" name="Text 18"/>
          <p:cNvSpPr txBox="1"/>
          <p:nvPr/>
        </p:nvSpPr>
        <p:spPr>
          <a:xfrm>
            <a:off x="642823" y="4389120"/>
            <a:ext cx="2971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مدخل شهر المسؤولية</a:t>
            </a:r>
            <a:endParaRPr lang="ar-SA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5394960"/>
            <a:ext cx="11094415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علامات حذّرنا منها النبي ﷺ لننتبه لها في أنفسنا… لا لنحكم بها على غيرنا</a:t>
            </a:r>
            <a:endParaRPr lang="ar-SA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 st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530352"/>
            <a:ext cx="384048" cy="38404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384048"/>
            <a:ext cx="10545775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الخطر: أن تصير الكذبة اسمك</a:t>
            </a:r>
            <a:endParaRPr lang="ar-SA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صدق اللسان · نادي قمم</a:t>
            </a:r>
            <a:endParaRPr lang="ar-SA" sz="1000" dirty="0"/>
          </a:p>
        </p:txBody>
      </p:sp>
      <p:sp>
        <p:nvSpPr>
          <p:cNvPr id="5" name="chain 1"/>
          <p:cNvSpPr/>
          <p:nvPr/>
        </p:nvSpPr>
        <p:spPr>
          <a:xfrm>
            <a:off x="9128455" y="1463040"/>
            <a:ext cx="2377440" cy="1600200"/>
          </a:xfrm>
          <a:prstGeom prst="roundRect">
            <a:avLst>
              <a:gd name="adj" fmla="val 8571"/>
            </a:avLst>
          </a:prstGeom>
          <a:solidFill>
            <a:srgbClr val="DCE5DD"/>
          </a:solidFill>
          <a:ln w="12700">
            <a:solidFill>
              <a:srgbClr val="DCE5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128455" y="1691640"/>
            <a:ext cx="23774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3000" b="1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كذبة</a:t>
            </a:r>
            <a:endParaRPr lang="ar-SA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9128455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ذنب يُتاب منه</a:t>
            </a:r>
            <a:endParaRPr lang="ar-SA" sz="1500" dirty="0"/>
          </a:p>
        </p:txBody>
      </p:sp>
      <p:sp>
        <p:nvSpPr>
          <p:cNvPr id="8" name="Shape 5"/>
          <p:cNvSpPr/>
          <p:nvPr/>
        </p:nvSpPr>
        <p:spPr>
          <a:xfrm>
            <a:off x="8698687" y="2103120"/>
            <a:ext cx="356616" cy="320040"/>
          </a:xfrm>
          <a:prstGeom prst="leftArrow">
            <a:avLst/>
          </a:prstGeom>
          <a:solidFill>
            <a:srgbClr val="B8914F"/>
          </a:solidFill>
          <a:ln w="12700">
            <a:solidFill>
              <a:srgbClr val="B8914F"/>
            </a:solidFill>
            <a:prstDash val="solid"/>
          </a:ln>
        </p:spPr>
      </p:sp>
      <p:sp>
        <p:nvSpPr>
          <p:cNvPr id="9" name="chain 2"/>
          <p:cNvSpPr/>
          <p:nvPr/>
        </p:nvSpPr>
        <p:spPr>
          <a:xfrm>
            <a:off x="6248095" y="1463040"/>
            <a:ext cx="2377440" cy="1600200"/>
          </a:xfrm>
          <a:prstGeom prst="roundRect">
            <a:avLst>
              <a:gd name="adj" fmla="val 8571"/>
            </a:avLst>
          </a:prstGeom>
          <a:solidFill>
            <a:srgbClr val="E9D9B8"/>
          </a:solidFill>
          <a:ln w="12700">
            <a:solidFill>
              <a:srgbClr val="E9D9B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248095" y="1691640"/>
            <a:ext cx="23774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30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تتكرر</a:t>
            </a:r>
            <a:endParaRPr lang="ar-SA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6248095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مرة بعد مرة</a:t>
            </a:r>
            <a:endParaRPr lang="ar-SA" sz="1500" dirty="0"/>
          </a:p>
        </p:txBody>
      </p:sp>
      <p:sp>
        <p:nvSpPr>
          <p:cNvPr id="12" name="Shape 9"/>
          <p:cNvSpPr/>
          <p:nvPr/>
        </p:nvSpPr>
        <p:spPr>
          <a:xfrm>
            <a:off x="5818327" y="2103120"/>
            <a:ext cx="356616" cy="320040"/>
          </a:xfrm>
          <a:prstGeom prst="leftArrow">
            <a:avLst/>
          </a:prstGeom>
          <a:solidFill>
            <a:srgbClr val="B8914F"/>
          </a:solidFill>
          <a:ln w="12700">
            <a:solidFill>
              <a:srgbClr val="B8914F"/>
            </a:solidFill>
            <a:prstDash val="solid"/>
          </a:ln>
        </p:spPr>
      </p:sp>
      <p:sp>
        <p:nvSpPr>
          <p:cNvPr id="13" name="chain 3"/>
          <p:cNvSpPr/>
          <p:nvPr/>
        </p:nvSpPr>
        <p:spPr>
          <a:xfrm>
            <a:off x="3367735" y="1463040"/>
            <a:ext cx="2377440" cy="1600200"/>
          </a:xfrm>
          <a:prstGeom prst="roundRect">
            <a:avLst>
              <a:gd name="adj" fmla="val 8571"/>
            </a:avLst>
          </a:prstGeom>
          <a:solidFill>
            <a:srgbClr val="E3C3B6"/>
          </a:solidFill>
          <a:ln w="12700">
            <a:solidFill>
              <a:srgbClr val="E3C3B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3367735" y="1691640"/>
            <a:ext cx="23774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3000" b="1" dirty="0">
                <a:solidFill>
                  <a:srgbClr val="9C4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عادة</a:t>
            </a:r>
            <a:endParaRPr lang="ar-SA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3367735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تصير طبعاً</a:t>
            </a:r>
            <a:endParaRPr lang="ar-SA" sz="1500" dirty="0"/>
          </a:p>
        </p:txBody>
      </p:sp>
      <p:sp>
        <p:nvSpPr>
          <p:cNvPr id="16" name="Shape 13"/>
          <p:cNvSpPr/>
          <p:nvPr/>
        </p:nvSpPr>
        <p:spPr>
          <a:xfrm>
            <a:off x="2937967" y="2103120"/>
            <a:ext cx="356616" cy="320040"/>
          </a:xfrm>
          <a:prstGeom prst="leftArrow">
            <a:avLst/>
          </a:prstGeom>
          <a:solidFill>
            <a:srgbClr val="B8914F"/>
          </a:solidFill>
          <a:ln w="12700">
            <a:solidFill>
              <a:srgbClr val="B8914F"/>
            </a:solidFill>
            <a:prstDash val="solid"/>
          </a:ln>
        </p:spPr>
      </p:sp>
      <p:sp>
        <p:nvSpPr>
          <p:cNvPr id="17" name="chain 4"/>
          <p:cNvSpPr/>
          <p:nvPr/>
        </p:nvSpPr>
        <p:spPr>
          <a:xfrm>
            <a:off x="487375" y="1463040"/>
            <a:ext cx="2377440" cy="1600200"/>
          </a:xfrm>
          <a:prstGeom prst="roundRect">
            <a:avLst>
              <a:gd name="adj" fmla="val 8571"/>
            </a:avLst>
          </a:prstGeom>
          <a:solidFill>
            <a:srgbClr val="17332D"/>
          </a:solidFill>
          <a:ln w="12700">
            <a:solidFill>
              <a:srgbClr val="1733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487375" y="1691640"/>
            <a:ext cx="23774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3000" b="1" dirty="0">
                <a:solidFill>
                  <a:srgbClr val="B89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«كذّاباً»</a:t>
            </a:r>
            <a:endParaRPr lang="ar-SA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487375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يُكتب عند الله</a:t>
            </a:r>
            <a:endParaRPr lang="ar-SA" sz="1500" dirty="0"/>
          </a:p>
        </p:txBody>
      </p:sp>
      <p:sp>
        <p:nvSpPr>
          <p:cNvPr id="20" name="hadith 4"/>
          <p:cNvSpPr/>
          <p:nvPr/>
        </p:nvSpPr>
        <p:spPr>
          <a:xfrm>
            <a:off x="548640" y="3520440"/>
            <a:ext cx="11094415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822960" y="3611880"/>
            <a:ext cx="10545775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7332D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«وَإِنَّ الْكَذِبَ يَهْدِي إِلَى الْفُجُورِ، وَإِنَّ الْفُجُورَ يَهْدِي إِلَى النَّارِ، وَإِنَّ الرَّجُلَ لَيَكْذِبُ </a:t>
            </a:r>
            <a:pPr rtl="1" algn="ctr" indent="0" marL="0">
              <a:buNone/>
            </a:pPr>
            <a:r>
              <a:rPr lang="ar-SA" altLang="en-US" sz="2600" b="1" dirty="0">
                <a:solidFill>
                  <a:srgbClr val="9C4A2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حَتَّى يُكْتَبَ عِنْدَ اللَّهِ كَذَّاباً</a:t>
            </a:r>
            <a:pPr rtl="1" algn="ctr" indent="0" marL="0">
              <a:buNone/>
            </a:pPr>
            <a:r>
              <a:rPr lang="ar-SA" altLang="en-US" sz="2600" b="1" dirty="0">
                <a:solidFill>
                  <a:srgbClr val="17332D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»</a:t>
            </a:r>
            <a:endParaRPr lang="ar-SA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4800600"/>
            <a:ext cx="10545775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متفق عليه: البخاري (6094)، مسلم (2607)</a:t>
            </a:r>
            <a:endParaRPr lang="ar-SA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والتكليف هذا الأسبوع هو ما يكسر السلسلة من حلقتها الثانية</a:t>
            </a:r>
            <a:endParaRPr lang="ar-SA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188720"/>
            <a:ext cx="1036289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B89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أصل «فلتر الثلاث» في القرآن</a:t>
            </a:r>
            <a:endParaRPr lang="ar-SA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03120"/>
            <a:ext cx="10728655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4800" b="1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﴿يَا أَيُّهَا الَّذِينَ آمَنُوا إِن جَاءَكُمْ فَاسِقٌ بِنَبَإٍ فَتَبَيَّنُوا﴾</a:t>
            </a:r>
            <a:endParaRPr lang="ar-SA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794760"/>
            <a:ext cx="10362895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C9D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الحجرات: 6</a:t>
            </a:r>
            <a:endParaRPr lang="ar-SA" sz="1600" dirty="0"/>
          </a:p>
        </p:txBody>
      </p:sp>
      <p:sp>
        <p:nvSpPr>
          <p:cNvPr id="5" name="Shape 3"/>
          <p:cNvSpPr/>
          <p:nvPr/>
        </p:nvSpPr>
        <p:spPr>
          <a:xfrm>
            <a:off x="4632808" y="4572000"/>
            <a:ext cx="2926080" cy="822960"/>
          </a:xfrm>
          <a:prstGeom prst="roundRect">
            <a:avLst>
              <a:gd name="adj" fmla="val 50000"/>
            </a:avLst>
          </a:prstGeom>
          <a:solidFill>
            <a:srgbClr val="B8914F"/>
          </a:solidFill>
          <a:ln w="12700">
            <a:solidFill>
              <a:srgbClr val="B891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32808" y="4572000"/>
            <a:ext cx="29260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3600" b="1" dirty="0">
                <a:solidFill>
                  <a:srgbClr val="17332D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فَتَبَيَّنُوا</a:t>
            </a:r>
            <a:endParaRPr lang="ar-SA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 st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530352"/>
            <a:ext cx="384048" cy="38404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384048"/>
            <a:ext cx="10545775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«فلتر الثلاث»: قبل أن ترسل</a:t>
            </a:r>
            <a:endParaRPr lang="ar-SA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صدق اللسان · نادي قمم</a:t>
            </a:r>
            <a:endParaRPr lang="ar-SA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أن ترسل أي خبر أو صورة أو مقطع، أو تنقل كلاماً سمعته عن أحد، اسأل نفسك:</a:t>
            </a:r>
            <a:endParaRPr lang="ar-SA" sz="1800" dirty="0"/>
          </a:p>
        </p:txBody>
      </p:sp>
      <p:sp>
        <p:nvSpPr>
          <p:cNvPr id="6" name="question 1"/>
          <p:cNvSpPr/>
          <p:nvPr/>
        </p:nvSpPr>
        <p:spPr>
          <a:xfrm>
            <a:off x="8122615" y="1874520"/>
            <a:ext cx="352044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195" y="2103120"/>
            <a:ext cx="1097280" cy="10972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334195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3000" b="1" dirty="0">
                <a:solidFill>
                  <a:srgbClr val="B89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3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2975" y="214884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351215" y="3337560"/>
            <a:ext cx="3063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أنا متأكد أنه صحيح؟</a:t>
            </a:r>
            <a:endParaRPr lang="ar-SA" sz="2400" dirty="0"/>
          </a:p>
        </p:txBody>
      </p:sp>
      <p:sp>
        <p:nvSpPr>
          <p:cNvPr id="11" name="question 2"/>
          <p:cNvSpPr/>
          <p:nvPr/>
        </p:nvSpPr>
        <p:spPr>
          <a:xfrm>
            <a:off x="4245559" y="1874520"/>
            <a:ext cx="352044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139" y="2103120"/>
            <a:ext cx="1097280" cy="109728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457139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3000" b="1" dirty="0">
                <a:solidFill>
                  <a:srgbClr val="B89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3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919" y="2148840"/>
            <a:ext cx="365760" cy="36576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474159" y="3337560"/>
            <a:ext cx="3063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مصدره؟</a:t>
            </a:r>
            <a:endParaRPr lang="ar-SA" sz="2400" dirty="0"/>
          </a:p>
        </p:txBody>
      </p:sp>
      <p:sp>
        <p:nvSpPr>
          <p:cNvPr id="16" name="question 3"/>
          <p:cNvSpPr/>
          <p:nvPr/>
        </p:nvSpPr>
        <p:spPr>
          <a:xfrm>
            <a:off x="368503" y="1874520"/>
            <a:ext cx="352044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0083" y="2103120"/>
            <a:ext cx="1097280" cy="109728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580083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3000" b="1" dirty="0">
                <a:solidFill>
                  <a:srgbClr val="B89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30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8863" y="2148840"/>
            <a:ext cx="365760" cy="36576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597103" y="3337560"/>
            <a:ext cx="3063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في نقله نفع؟</a:t>
            </a:r>
            <a:endParaRPr lang="ar-SA" sz="2400" dirty="0"/>
          </a:p>
        </p:txBody>
      </p:sp>
      <p:sp>
        <p:nvSpPr>
          <p:cNvPr id="21" name="stop rule"/>
          <p:cNvSpPr/>
          <p:nvPr/>
        </p:nvSpPr>
        <p:spPr>
          <a:xfrm>
            <a:off x="2377440" y="4846320"/>
            <a:ext cx="7436815" cy="914400"/>
          </a:xfrm>
          <a:prstGeom prst="roundRect">
            <a:avLst>
              <a:gd name="adj" fmla="val 50000"/>
            </a:avLst>
          </a:prstGeom>
          <a:solidFill>
            <a:srgbClr val="9C4A2F"/>
          </a:solidFill>
          <a:ln w="12700">
            <a:solidFill>
              <a:srgbClr val="9C4A2F"/>
            </a:solidFill>
            <a:prstDash val="solid"/>
          </a:ln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45575" y="5056632"/>
            <a:ext cx="502920" cy="50292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2651760" y="4846320"/>
            <a:ext cx="615665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تعثّرت في سؤال واحد منها؟ لا ترسل</a:t>
            </a:r>
            <a:endParaRPr lang="ar-SA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 st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530352"/>
            <a:ext cx="384048" cy="38404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384048"/>
            <a:ext cx="10545775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تكليف الأسبوع: من 10 إلى 17 أكتوبر</a:t>
            </a:r>
            <a:endParaRPr lang="ar-SA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صدق اللسان · نادي قمم</a:t>
            </a:r>
            <a:endParaRPr lang="ar-SA" sz="1000" dirty="0"/>
          </a:p>
        </p:txBody>
      </p:sp>
      <p:sp>
        <p:nvSpPr>
          <p:cNvPr id="5" name="row 1"/>
          <p:cNvSpPr/>
          <p:nvPr/>
        </p:nvSpPr>
        <p:spPr>
          <a:xfrm>
            <a:off x="6172200" y="1417320"/>
            <a:ext cx="5470855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774375" y="1709928"/>
            <a:ext cx="640080" cy="640080"/>
          </a:xfrm>
          <a:prstGeom prst="ellipse">
            <a:avLst/>
          </a:prstGeom>
          <a:solidFill>
            <a:srgbClr val="DCE5DD"/>
          </a:solidFill>
          <a:ln w="12700">
            <a:solidFill>
              <a:srgbClr val="DCE5DD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823" y="1865376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355080" y="1527048"/>
            <a:ext cx="4282135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المطلوب</a:t>
            </a:r>
            <a:endParaRPr lang="ar-SA" sz="1800" dirty="0"/>
          </a:p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سجّل 3 مواقف + مهمة التحقق</a:t>
            </a:r>
            <a:endParaRPr lang="ar-SA" sz="1800" dirty="0"/>
          </a:p>
        </p:txBody>
      </p:sp>
      <p:sp>
        <p:nvSpPr>
          <p:cNvPr id="9" name="row 2"/>
          <p:cNvSpPr/>
          <p:nvPr/>
        </p:nvSpPr>
        <p:spPr>
          <a:xfrm>
            <a:off x="6172200" y="3017520"/>
            <a:ext cx="5470855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0774375" y="3310128"/>
            <a:ext cx="640080" cy="640080"/>
          </a:xfrm>
          <a:prstGeom prst="ellipse">
            <a:avLst/>
          </a:prstGeom>
          <a:solidFill>
            <a:srgbClr val="DCE5DD"/>
          </a:solidFill>
          <a:ln w="12700">
            <a:solidFill>
              <a:srgbClr val="DCE5DD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9823" y="3465576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355080" y="3127248"/>
            <a:ext cx="4282135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المجال</a:t>
            </a:r>
            <a:endParaRPr lang="ar-SA" sz="1800" dirty="0"/>
          </a:p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الهاتف ومجموعات التواصل</a:t>
            </a:r>
            <a:endParaRPr lang="ar-SA" sz="1800" dirty="0"/>
          </a:p>
        </p:txBody>
      </p:sp>
      <p:sp>
        <p:nvSpPr>
          <p:cNvPr id="13" name="row 3"/>
          <p:cNvSpPr/>
          <p:nvPr/>
        </p:nvSpPr>
        <p:spPr>
          <a:xfrm>
            <a:off x="6172200" y="4617720"/>
            <a:ext cx="5470855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10774375" y="4910328"/>
            <a:ext cx="640080" cy="640080"/>
          </a:xfrm>
          <a:prstGeom prst="ellipse">
            <a:avLst/>
          </a:prstGeom>
          <a:solidFill>
            <a:srgbClr val="DCE5DD"/>
          </a:solidFill>
          <a:ln w="12700">
            <a:solidFill>
              <a:srgbClr val="DCE5DD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9823" y="5065776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355080" y="4727448"/>
            <a:ext cx="4282135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العرض في لقاء 17 أكتوبر</a:t>
            </a:r>
            <a:endParaRPr lang="ar-SA" sz="1800" dirty="0"/>
          </a:p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موقف + مهمة التحقق، ويُعرض أحسن موقف</a:t>
            </a:r>
            <a:endParaRPr lang="ar-SA" sz="1800" dirty="0"/>
          </a:p>
        </p:txBody>
      </p:sp>
      <p:sp>
        <p:nvSpPr>
          <p:cNvPr id="17" name="verification mission"/>
          <p:cNvSpPr/>
          <p:nvPr/>
        </p:nvSpPr>
        <p:spPr>
          <a:xfrm>
            <a:off x="548640" y="1417320"/>
            <a:ext cx="5349240" cy="4434840"/>
          </a:xfrm>
          <a:prstGeom prst="roundRect">
            <a:avLst>
              <a:gd name="adj" fmla="val 3093"/>
            </a:avLst>
          </a:prstGeom>
          <a:solidFill>
            <a:srgbClr val="17332D"/>
          </a:solidFill>
          <a:ln w="12700">
            <a:solidFill>
              <a:srgbClr val="1733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1691640"/>
            <a:ext cx="594360" cy="5943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22960" y="1691640"/>
            <a:ext cx="40233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B89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مهمة التحقق</a:t>
            </a:r>
            <a:endParaRPr lang="ar-SA" sz="2600" dirty="0"/>
          </a:p>
        </p:txBody>
      </p:sp>
      <p:sp>
        <p:nvSpPr>
          <p:cNvPr id="20" name="Text 13"/>
          <p:cNvSpPr txBox="1"/>
          <p:nvPr/>
        </p:nvSpPr>
        <p:spPr>
          <a:xfrm>
            <a:off x="822960" y="2651760"/>
            <a:ext cx="480060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 خبراً منتشراً ثبت أنه كاذب،</a:t>
            </a:r>
            <a:endParaRPr lang="ar-SA" sz="24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واشرح للمجموعة في دقيقتين:</a:t>
            </a:r>
            <a:endParaRPr lang="ar-SA" sz="24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400" b="1" dirty="0">
                <a:solidFill>
                  <a:srgbClr val="B89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عرفت ذلك؟</a:t>
            </a:r>
            <a:endParaRPr lang="ar-SA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 st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530352"/>
            <a:ext cx="384048" cy="38404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384048"/>
            <a:ext cx="10545775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ورقة التسجيل</a:t>
            </a:r>
            <a:endParaRPr lang="ar-SA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صدق اللسان · نادي قمم</a:t>
            </a:r>
            <a:endParaRPr lang="ar-SA" sz="1000" dirty="0"/>
          </a:p>
        </p:txBody>
      </p:sp>
      <p:graphicFrame>
        <p:nvGraphicFramePr>
          <p:cNvPr id="17" name="workshee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834640"/>
                <a:gridCol w="3291840"/>
                <a:gridCol w="1673352"/>
              </a:tblGrid>
              <a:tr h="59436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ماذا فعلت بدلاً منه؟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32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أي سؤال أوقفني؟ (1 / 2 / 3)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32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ماذا كدت أرسل أو أنقل؟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32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اليوم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32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  ·   2   ·   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الموقف 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  ·   2   ·   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الموقف 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  ·   2   ·   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الموقف 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ommitment"/>
          <p:cNvSpPr/>
          <p:nvPr/>
        </p:nvSpPr>
        <p:spPr>
          <a:xfrm>
            <a:off x="548640" y="4754880"/>
            <a:ext cx="11094415" cy="1143000"/>
          </a:xfrm>
          <a:prstGeom prst="roundRect">
            <a:avLst>
              <a:gd name="adj" fmla="val 12000"/>
            </a:avLst>
          </a:prstGeom>
          <a:solidFill>
            <a:srgbClr val="DCE5DD"/>
          </a:solidFill>
          <a:ln w="12700">
            <a:solidFill>
              <a:srgbClr val="DCE5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5815" y="5029200"/>
            <a:ext cx="548640" cy="5486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77240" y="4846320"/>
            <a:ext cx="9814255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سطر الالتزام بخط المشارك:</a:t>
            </a:r>
            <a:endParaRPr lang="ar-SA" sz="1800" dirty="0"/>
          </a:p>
          <a:p>
            <a:pPr rtl="1" algn="r" indent="0" marL="0">
              <a:buNone/>
            </a:pPr>
            <a:r>
              <a:rPr lang="ar-SA" altLang="en-US" sz="1700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«أعاهد نفسي ألا أنقل خبراً قبل أن أمرّره على الأسئلة الثلاثة، وأول مجموعة سأطبّق فيها هذا هي: …………»</a:t>
            </a:r>
            <a:endParaRPr lang="ar-SA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248" y="502920"/>
            <a:ext cx="2743200" cy="2743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368" y="1463040"/>
            <a:ext cx="822960" cy="8229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3520440"/>
            <a:ext cx="1072865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زر إعادة التوجيه قد يجعلك شريكاً في الكذبة</a:t>
            </a:r>
            <a:endParaRPr lang="ar-SA" sz="38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4434840"/>
            <a:ext cx="10728655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5600" b="1" dirty="0">
                <a:solidFill>
                  <a:srgbClr val="B8914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فتثبّت قبل أن تنقل</a:t>
            </a:r>
            <a:endParaRPr lang="ar-SA" sz="56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5760720"/>
            <a:ext cx="10728655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C9D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نلتقي السبت 17 أكتوبر · صدق الأحوال</a:t>
            </a:r>
            <a:endParaRPr lang="ar-SA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 st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530352"/>
            <a:ext cx="384048" cy="38404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384048"/>
            <a:ext cx="10545775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 سألوك…</a:t>
            </a:r>
            <a:endParaRPr lang="ar-SA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صدق اللسان · نادي قمم</a:t>
            </a:r>
            <a:endParaRPr lang="ar-SA" sz="1000" dirty="0"/>
          </a:p>
        </p:txBody>
      </p:sp>
      <p:sp>
        <p:nvSpPr>
          <p:cNvPr id="5" name="qa 1"/>
          <p:cNvSpPr/>
          <p:nvPr/>
        </p:nvSpPr>
        <p:spPr>
          <a:xfrm>
            <a:off x="548640" y="1280160"/>
            <a:ext cx="11094415" cy="1310640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774375" y="1615440"/>
            <a:ext cx="640080" cy="640080"/>
          </a:xfrm>
          <a:prstGeom prst="ellipse">
            <a:avLst/>
          </a:prstGeom>
          <a:solidFill>
            <a:srgbClr val="DCE5DD"/>
          </a:solidFill>
          <a:ln w="12700">
            <a:solidFill>
              <a:srgbClr val="DCE5DD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967" y="1780032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309360" y="1389888"/>
            <a:ext cx="4282135" cy="1091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«أنا لم أكذب، فقط أعدت إرسال ما وصلني.»</a:t>
            </a:r>
            <a:endParaRPr lang="ar-SA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1389888"/>
            <a:ext cx="5349240" cy="1091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هذا بالضبط ما في «فَتُحْمَلُ عَنْهُ» و«كفى بالمرء كذباً أن يحدّث بكل ما سمع». الناقل بلا تثبّت له نصيب.</a:t>
            </a:r>
            <a:endParaRPr lang="ar-SA" sz="1500" dirty="0"/>
          </a:p>
        </p:txBody>
      </p:sp>
      <p:sp>
        <p:nvSpPr>
          <p:cNvPr id="10" name="qa 2"/>
          <p:cNvSpPr/>
          <p:nvPr/>
        </p:nvSpPr>
        <p:spPr>
          <a:xfrm>
            <a:off x="548640" y="2819400"/>
            <a:ext cx="11094415" cy="1310640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774375" y="3154680"/>
            <a:ext cx="640080" cy="640080"/>
          </a:xfrm>
          <a:prstGeom prst="ellipse">
            <a:avLst/>
          </a:prstGeom>
          <a:solidFill>
            <a:srgbClr val="DCE5DD"/>
          </a:solidFill>
          <a:ln w="12700">
            <a:solidFill>
              <a:srgbClr val="DCE5D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8967" y="331927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309360" y="2929128"/>
            <a:ext cx="4282135" cy="1091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«وإذا لم أعرف هل الخبر صحيح؟»</a:t>
            </a:r>
            <a:endParaRPr lang="ar-SA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777240" y="2929128"/>
            <a:ext cx="5349240" cy="1091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فلا ترسله. السؤال الأول في الفلتر يكفي لإيقافك.</a:t>
            </a:r>
            <a:endParaRPr lang="ar-SA" sz="1500" dirty="0"/>
          </a:p>
        </p:txBody>
      </p:sp>
      <p:sp>
        <p:nvSpPr>
          <p:cNvPr id="15" name="qa 3"/>
          <p:cNvSpPr/>
          <p:nvPr/>
        </p:nvSpPr>
        <p:spPr>
          <a:xfrm>
            <a:off x="548640" y="4358640"/>
            <a:ext cx="11094415" cy="1310640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10774375" y="4693920"/>
            <a:ext cx="640080" cy="640080"/>
          </a:xfrm>
          <a:prstGeom prst="ellipse">
            <a:avLst/>
          </a:prstGeom>
          <a:solidFill>
            <a:srgbClr val="DCE5DD"/>
          </a:solidFill>
          <a:ln w="12700">
            <a:solidFill>
              <a:srgbClr val="DCE5DD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8967" y="4858512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309360" y="4468368"/>
            <a:ext cx="4282135" cy="1091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«هل المزاح الكاذب داخل في هذا؟»</a:t>
            </a:r>
            <a:endParaRPr lang="ar-SA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777240" y="4468368"/>
            <a:ext cx="5349240" cy="1091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نعم: «وَيْلٌ لِلَّذِي يُحَدِّثُ فَيَكْذِبُ لِيُضْحِكَ بِهِ الْقَوْمَ» — أبو داود (4990)، حسن.</a:t>
            </a:r>
            <a:endParaRPr lang="ar-SA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 st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530352"/>
            <a:ext cx="384048" cy="38404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384048"/>
            <a:ext cx="10545775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 سألوك… (2)</a:t>
            </a:r>
            <a:endParaRPr lang="ar-SA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6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صدق اللسان · نادي قمم</a:t>
            </a:r>
            <a:endParaRPr lang="ar-SA" sz="1000" dirty="0"/>
          </a:p>
        </p:txBody>
      </p:sp>
      <p:sp>
        <p:nvSpPr>
          <p:cNvPr id="5" name="qa 1"/>
          <p:cNvSpPr/>
          <p:nvPr/>
        </p:nvSpPr>
        <p:spPr>
          <a:xfrm>
            <a:off x="548640" y="1280160"/>
            <a:ext cx="11094415" cy="208026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774375" y="2000250"/>
            <a:ext cx="640080" cy="640080"/>
          </a:xfrm>
          <a:prstGeom prst="ellipse">
            <a:avLst/>
          </a:prstGeom>
          <a:solidFill>
            <a:srgbClr val="DCE5DD"/>
          </a:solidFill>
          <a:ln w="12700">
            <a:solidFill>
              <a:srgbClr val="DCE5DD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967" y="2164842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309360" y="1389888"/>
            <a:ext cx="4282135" cy="18608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«كذبت قبل ذلك، فهل صرت منافقاً أو كذاباً؟»</a:t>
            </a:r>
            <a:endParaRPr lang="ar-SA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1389888"/>
            <a:ext cx="5349240" cy="18608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لا. الكذبة ذنب تُتاب منه. الخطر أن تتكرر حتى تصير عادة، وهذا ما يمنعه التكليف.</a:t>
            </a:r>
            <a:endParaRPr lang="ar-SA" sz="1500" dirty="0"/>
          </a:p>
        </p:txBody>
      </p:sp>
      <p:sp>
        <p:nvSpPr>
          <p:cNvPr id="10" name="qa 2"/>
          <p:cNvSpPr/>
          <p:nvPr/>
        </p:nvSpPr>
        <p:spPr>
          <a:xfrm>
            <a:off x="548640" y="3589020"/>
            <a:ext cx="11094415" cy="208026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774375" y="4309110"/>
            <a:ext cx="640080" cy="640080"/>
          </a:xfrm>
          <a:prstGeom prst="ellipse">
            <a:avLst/>
          </a:prstGeom>
          <a:solidFill>
            <a:srgbClr val="DCE5DD"/>
          </a:solidFill>
          <a:ln w="12700">
            <a:solidFill>
              <a:srgbClr val="DCE5D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8967" y="447370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309360" y="3698748"/>
            <a:ext cx="4282135" cy="18608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73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«هل الكذب جائز أحياناً؟»</a:t>
            </a:r>
            <a:endParaRPr lang="ar-SA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777240" y="3698748"/>
            <a:ext cx="5349240" cy="18608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2F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رُخّص فيه في ثلاثة مواطن: الإصلاح بين الناس، والحرب، وحديث الزوجين — مسلم (2605).</a:t>
            </a:r>
            <a:endParaRPr lang="ar-SA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صدق اللسان — نادي قمم</dc:title>
  <dc:subject>خاطرة صدق الأقوال — رفيق 14–18</dc:subject>
  <dc:creator>نادي مسجد حمزة - قمم</dc:creator>
  <cp:lastModifiedBy>نادي مسجد حمزة - قمم</cp:lastModifiedBy>
  <cp:revision>1</cp:revision>
  <dcterms:created xsi:type="dcterms:W3CDTF">2026-10-10T10:11:15Z</dcterms:created>
  <dcterms:modified xsi:type="dcterms:W3CDTF">2026-10-10T10:11:15Z</dcterms:modified>
</cp:coreProperties>
</file>