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0ea17a9a-ddc4-3cfb-4edc-0f7b52187094}">
          <p14:sldIdLst>
            <p14:sldId id="256"/>
          </p14:sldIdLst>
        </p14:section>
        <p14:section name="الخصائص" id="{497f6408-1b09-436a-80e6-cc6777a8ae27}">
          <p14:sldIdLst>
            <p14:sldId id="257"/>
            <p14:sldId id="258"/>
          </p14:sldIdLst>
        </p14:section>
        <p14:section name="الاحتياجات" id="{b8b288d7-5f22-6730-dcdd-44ce252520c6}">
          <p14:sldIdLst>
            <p14:sldId id="259"/>
          </p14:sldIdLst>
        </p14:section>
        <p14:section name="طرق التدريب" id="{6db0e4a7-8177-5945-c35d-6d911262bca5}">
          <p14:sldIdLst>
            <p14:sldId id="260"/>
            <p14:sldId id="261"/>
            <p14:sldId id="262"/>
          </p14:sldIdLst>
        </p14:section>
        <p14:section name="الختام" id="{fcb876ad-0b2c-e017-4180-a40b9f06bb1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افتح بسؤال: تذكّر دورة حضرتها وشعرت أنها لا تحترم خبرتك أو وقتك. ماذا كان ينقصها؟ اجمع إجابتين أو ثلاثًا ثم اربطها بالخصائص الست.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مرّ على الخصائص سريعًا؛ التفصيل في جدول الاحتياجات. اطلب من المشاركين اختيار الخاصية التي يرونها الأكثر تأثيرًا في وحداتهم.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تصحيح للخاصية السادسة. اشرح أن المشكلة ليست في ذكاء الراشد بل في حمولة ذهنه: عمل وأسرة ووحدة كشفية. نشاط: اعرض 10 كلمات لمدة 20 ثانية ثم اطلب استرجاعها، ثم كرّر بثلاث مجموعات من 3–4 كلمات مع ربط كل مجموعة بمثال.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خاصية تولّد احتياجًا، وكل احتياج يقابله إجراء تدريبي. اطلب من كل مجموعة إضافة إجراء ثانٍ لخاصية واحدة من واقع تجربتهم.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لكل طريقة موضع يناسبها. اسأل: متى استخدمتم لعب الأدوار في دورة سابقة؟ وهل خدم الهدف؟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نبّه إلى أن العرض القصير ليس الطريقة الأساسية مع الراشدين؛ هو للمعلومة الضرورية فقط ولا يتجاوز 15 – 20 دقيقة. التعلم بالمشروع يضمن انتقال أثر الدورة إلى الوحدة.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تمرين سريع: اقرأ أهدافًا من جلسات الدورة (مثل: يعدّد مراحل الطريقة الكشفية / يعقد عقدة الربطة / يقدّر قيمة العمل الجماعي) واطلب من المشاركين تحديد نوع الهدف والطريقة المناسبة.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ختام: اطلب من كل مشارك كتابة إجراء واحد سيغيّره في طريقة تدريبه بعد هذه المحاضرة. وزّع جدول الاحتياجات ملخصًا مكتوبًا تطبيقًا لخاصية الذاكرة العاملة.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2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endParaRPr lang="ar-SA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71697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7169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34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ar-SA" sz="3400" dirty="0"/>
          </a:p>
        </p:txBody>
      </p:sp>
      <p:sp>
        <p:nvSpPr>
          <p:cNvPr id="3" name="Text 0"/>
          <p:cNvSpPr/>
          <p:nvPr/>
        </p:nvSpPr>
        <p:spPr>
          <a:xfrm>
            <a:off x="3657600" y="6355080"/>
            <a:ext cx="7985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000" dirty="0">
                <a:solidFill>
                  <a:srgbClr val="5E6E66"/>
                </a:solidFill>
              </a:rPr>
              <a:t>دورة مساعد قائد تدريب  |  المحاضرة الثانية: خصائص الراشدين</a:t>
            </a:r>
            <a:endParaRPr lang="ar-S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خصائص الراشدين</a:t>
            </a:r>
            <a:endParaRPr lang="ar-SA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2"/>
                </a:solidFill>
              </a:rPr>
              <a:t>المحاضرة الثانية  —  دورة مساعد قائد تدريب</a:t>
            </a:r>
            <a:endParaRPr lang="ar-SA" sz="2200" dirty="0"/>
          </a:p>
        </p:txBody>
      </p:sp>
      <p:pic>
        <p:nvPicPr>
          <p:cNvPr id="4" name="cover-icon" descr="متعلم راش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0D5"/>
                </a:solidFill>
              </a:rPr>
              <a:t>كيف يتعلم الراشد؟ وكيف ندرّبه؟</a:t>
            </a:r>
            <a:endParaRPr lang="ar-SA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الخصائص الست للمتعلم الراشد</a:t>
            </a:r>
            <a:endParaRPr lang="ar-SA" sz="3400" dirty="0"/>
          </a:p>
        </p:txBody>
      </p:sp>
      <p:sp>
        <p:nvSpPr>
          <p:cNvPr id="3" name="char-card-1"/>
          <p:cNvSpPr/>
          <p:nvPr/>
        </p:nvSpPr>
        <p:spPr>
          <a:xfrm>
            <a:off x="6278728" y="1417320"/>
            <a:ext cx="536432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char-icon-1-circle"/>
          <p:cNvSpPr/>
          <p:nvPr/>
        </p:nvSpPr>
        <p:spPr>
          <a:xfrm>
            <a:off x="10591495" y="16916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har-icon-1" descr="char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7235" y="1897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53048" y="160020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D9A425"/>
                </a:solidFill>
              </a:rPr>
              <a:t>01 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خبرة تراكمية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553048" y="214884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يأتي محمّلًا بتجارب يريد أن تُحترم وتُستثمر</a:t>
            </a:r>
            <a:endParaRPr lang="ar-SA" sz="1600" dirty="0"/>
          </a:p>
        </p:txBody>
      </p:sp>
      <p:sp>
        <p:nvSpPr>
          <p:cNvPr id="8" name="char-card-2"/>
          <p:cNvSpPr/>
          <p:nvPr/>
        </p:nvSpPr>
        <p:spPr>
          <a:xfrm>
            <a:off x="548640" y="1417320"/>
            <a:ext cx="536432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char-icon-2-circle"/>
          <p:cNvSpPr/>
          <p:nvPr/>
        </p:nvSpPr>
        <p:spPr>
          <a:xfrm>
            <a:off x="4861408" y="16916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char-icon-2" descr="char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48" y="18973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60020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D9A425"/>
                </a:solidFill>
              </a:rPr>
              <a:t>02 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الاستقلالية</a:t>
            </a:r>
            <a:endParaRPr lang="ar-SA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14884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يريد أن يشارك في القرار لا أن يُملى عليه</a:t>
            </a:r>
            <a:endParaRPr lang="ar-SA" sz="1600" dirty="0"/>
          </a:p>
        </p:txBody>
      </p:sp>
      <p:sp>
        <p:nvSpPr>
          <p:cNvPr id="13" name="char-card-3"/>
          <p:cNvSpPr/>
          <p:nvPr/>
        </p:nvSpPr>
        <p:spPr>
          <a:xfrm>
            <a:off x="6278728" y="3017520"/>
            <a:ext cx="536432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char-icon-3-circle"/>
          <p:cNvSpPr/>
          <p:nvPr/>
        </p:nvSpPr>
        <p:spPr>
          <a:xfrm>
            <a:off x="10591495" y="32918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char-icon-3" descr="char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235" y="34975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53048" y="320040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D9A425"/>
                </a:solidFill>
              </a:rPr>
              <a:t>03 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الدافعية</a:t>
            </a:r>
            <a:endParaRPr lang="ar-SA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553048" y="374904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يتعلم حين يرى معنى لما يتعلمه</a:t>
            </a:r>
            <a:endParaRPr lang="ar-SA" sz="1600" dirty="0"/>
          </a:p>
        </p:txBody>
      </p:sp>
      <p:sp>
        <p:nvSpPr>
          <p:cNvPr id="18" name="char-card-4"/>
          <p:cNvSpPr/>
          <p:nvPr/>
        </p:nvSpPr>
        <p:spPr>
          <a:xfrm>
            <a:off x="548640" y="3017520"/>
            <a:ext cx="536432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char-icon-4-circle"/>
          <p:cNvSpPr/>
          <p:nvPr/>
        </p:nvSpPr>
        <p:spPr>
          <a:xfrm>
            <a:off x="4861408" y="32918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char-icon-4" descr="char-icon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148" y="34975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320040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D9A425"/>
                </a:solidFill>
              </a:rPr>
              <a:t>04 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البراغماتية</a:t>
            </a:r>
            <a:endParaRPr lang="ar-SA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374904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يبحث عن فائدة مباشرة قابلة للتطبيق</a:t>
            </a:r>
            <a:endParaRPr lang="ar-SA" sz="1600" dirty="0"/>
          </a:p>
        </p:txBody>
      </p:sp>
      <p:sp>
        <p:nvSpPr>
          <p:cNvPr id="23" name="char-card-5"/>
          <p:cNvSpPr/>
          <p:nvPr/>
        </p:nvSpPr>
        <p:spPr>
          <a:xfrm>
            <a:off x="6278728" y="4617720"/>
            <a:ext cx="536432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4" name="char-icon-5-circle"/>
          <p:cNvSpPr/>
          <p:nvPr/>
        </p:nvSpPr>
        <p:spPr>
          <a:xfrm>
            <a:off x="10591495" y="4892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char-icon-5" descr="char-icon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7235" y="50977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553048" y="480060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D9A425"/>
                </a:solidFill>
              </a:rPr>
              <a:t>05 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ضغط المسؤوليات</a:t>
            </a:r>
            <a:endParaRPr lang="ar-SA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6553048" y="534924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وقته محدود ومشغول بالعمل والأسرة والوحدة</a:t>
            </a:r>
            <a:endParaRPr lang="ar-SA" sz="1600" dirty="0"/>
          </a:p>
        </p:txBody>
      </p:sp>
      <p:sp>
        <p:nvSpPr>
          <p:cNvPr id="28" name="char-card-6"/>
          <p:cNvSpPr/>
          <p:nvPr/>
        </p:nvSpPr>
        <p:spPr>
          <a:xfrm>
            <a:off x="548640" y="4617720"/>
            <a:ext cx="536432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char-icon-6-circle"/>
          <p:cNvSpPr/>
          <p:nvPr/>
        </p:nvSpPr>
        <p:spPr>
          <a:xfrm>
            <a:off x="4861408" y="4892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char-icon-6" descr="char-icon-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148" y="509778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2960" y="480060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D9A425"/>
                </a:solidFill>
              </a:rPr>
              <a:t>06 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الذاكرة العاملة</a:t>
            </a:r>
            <a:endParaRPr lang="ar-SA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822960" y="5349240"/>
            <a:ext cx="3901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قدرته على الاحتفاظ بالجديد ومعالجته معًا محدودة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الخاصية السادسة: الذاكرة العاملة</a:t>
            </a:r>
            <a:endParaRPr lang="ar-SA" sz="3400" dirty="0"/>
          </a:p>
        </p:txBody>
      </p:sp>
      <p:sp>
        <p:nvSpPr>
          <p:cNvPr id="3" name="memory-def"/>
          <p:cNvSpPr/>
          <p:nvPr/>
        </p:nvSpPr>
        <p:spPr>
          <a:xfrm>
            <a:off x="5333695" y="1463040"/>
            <a:ext cx="630936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4" name="memory-icon-circle"/>
          <p:cNvSpPr/>
          <p:nvPr/>
        </p:nvSpPr>
        <p:spPr>
          <a:xfrm>
            <a:off x="10408615" y="1737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memory-icon" descr="memory-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08015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2"/>
                </a:solidFill>
              </a:rPr>
              <a:t>التعريف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608015" y="2880360"/>
            <a:ext cx="5760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200" dirty="0">
                <a:solidFill>
                  <a:schemeClr val="bg1"/>
                </a:solidFill>
              </a:rPr>
              <a:t>قدرة الراشد على الاحتفاظ بمعلومات جديدة ومعالجتها في وقت واحد محدودة، وتتأثر بانشغاله بمسؤولياته</a:t>
            </a:r>
            <a:endParaRPr lang="ar-S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لذلك يُقدَّم المحتوى:</a:t>
            </a:r>
            <a:endParaRPr lang="ar-SA" sz="2000" dirty="0"/>
          </a:p>
        </p:txBody>
      </p:sp>
      <p:sp>
        <p:nvSpPr>
          <p:cNvPr id="9" name="mem-card-1"/>
          <p:cNvSpPr/>
          <p:nvPr/>
        </p:nvSpPr>
        <p:spPr>
          <a:xfrm>
            <a:off x="548640" y="2103120"/>
            <a:ext cx="4754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0" name="mem-icon-1" descr="في وحدات صغي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2860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21031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في وحدات صغيرة</a:t>
            </a:r>
            <a:endParaRPr lang="ar-SA" sz="2000" dirty="0"/>
          </a:p>
        </p:txBody>
      </p:sp>
      <p:sp>
        <p:nvSpPr>
          <p:cNvPr id="12" name="mem-card-2"/>
          <p:cNvSpPr/>
          <p:nvPr/>
        </p:nvSpPr>
        <p:spPr>
          <a:xfrm>
            <a:off x="548640" y="3200400"/>
            <a:ext cx="4754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3" name="mem-icon-2" descr="مع تطبيق فور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3832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2004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مع تطبيق فوري</a:t>
            </a:r>
            <a:endParaRPr lang="ar-SA" sz="2000" dirty="0"/>
          </a:p>
        </p:txBody>
      </p:sp>
      <p:sp>
        <p:nvSpPr>
          <p:cNvPr id="15" name="mem-card-3"/>
          <p:cNvSpPr/>
          <p:nvPr/>
        </p:nvSpPr>
        <p:spPr>
          <a:xfrm>
            <a:off x="548640" y="4297680"/>
            <a:ext cx="4754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6" name="mem-icon-3" descr="ثم مراجع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4805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" y="42976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ثم مراجعة</a:t>
            </a:r>
            <a:endParaRPr lang="ar-SA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440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i="1" dirty="0">
                <a:solidFill>
                  <a:schemeClr val="accent4"/>
                </a:solidFill>
              </a:rPr>
              <a:t>بدل سيل من المعلومات المتصلة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كيف نلبّي احتياجات الراشد؟</a:t>
            </a:r>
            <a:endParaRPr lang="ar-SA" sz="3400" dirty="0"/>
          </a:p>
        </p:txBody>
      </p:sp>
      <p:graphicFrame>
        <p:nvGraphicFramePr>
          <p:cNvPr id="5" name="need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242255"/>
                <a:gridCol w="3291840"/>
                <a:gridCol w="2560320"/>
              </a:tblGrid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rgbClr val="FFFFFF"/>
                          </a:solidFill>
                        </a:rPr>
                        <a:t>كيف نلبّيه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rgbClr val="FFFFFF"/>
                          </a:solidFill>
                        </a:rPr>
                        <a:t>الاحتياج الذي تولّده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rgbClr val="FFFFFF"/>
                          </a:solidFill>
                        </a:rPr>
                        <a:t>الخاصية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نبدأ بسؤاله عن تجربته، ونبني عليها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أن تُحترم خبرته وتُستثمر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1F4D3A"/>
                          </a:solidFill>
                        </a:rPr>
                        <a:t>خبرة تراكمية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نترك له خيارات في المهام والطريقة، ونشركه في تحديد أهدافه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أن يشارك في القرار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1F4D3A"/>
                          </a:solidFill>
                        </a:rPr>
                        <a:t>الاستقلالية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نربط كل جلسة بدوره الفعلي في الوحدة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أن يرى معنى لما يتعلمه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1F4D3A"/>
                          </a:solidFill>
                        </a:rPr>
                        <a:t>الدافعية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نختم كل جلسة بأداة يستخدمها في اجتماعه القادم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فائدة مباشرة قابلة للتطبيق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1F4D3A"/>
                          </a:solidFill>
                        </a:rPr>
                        <a:t>البراغماتية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التزام بالمواعيد، وحذف ما لا يخدم الهدف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وقت محترم ومحتوى مركّز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1F4D3A"/>
                          </a:solidFill>
                        </a:rPr>
                        <a:t>ضغط المسؤوليات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وحدات قصيرة، وتطبيق فوري، وملخص مكتوب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dirty="0">
                          <a:solidFill>
                            <a:srgbClr val="000000"/>
                          </a:solidFill>
                        </a:rPr>
                        <a:t>محتوى غير مزدحم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1F4D3A"/>
                          </a:solidFill>
                        </a:rPr>
                        <a:t>الذاكرة العاملة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طرق تدريب الراشدين (1 من 2)</a:t>
            </a:r>
            <a:endParaRPr lang="ar-SA" sz="3400" dirty="0"/>
          </a:p>
        </p:txBody>
      </p:sp>
      <p:sp>
        <p:nvSpPr>
          <p:cNvPr id="3" name="method-card-1"/>
          <p:cNvSpPr/>
          <p:nvPr/>
        </p:nvSpPr>
        <p:spPr>
          <a:xfrm>
            <a:off x="6278728" y="146304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method-icon-1-circle"/>
          <p:cNvSpPr/>
          <p:nvPr/>
        </p:nvSpPr>
        <p:spPr>
          <a:xfrm>
            <a:off x="10500055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method-icon-1" descr="method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53048" y="173736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العصف الذهني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553048" y="274320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توليد أفكار واستثمار خبرات المجموعة</a:t>
            </a:r>
            <a:endParaRPr lang="ar-SA" sz="1700" dirty="0"/>
          </a:p>
        </p:txBody>
      </p:sp>
      <p:sp>
        <p:nvSpPr>
          <p:cNvPr id="8" name="method-card-2"/>
          <p:cNvSpPr/>
          <p:nvPr/>
        </p:nvSpPr>
        <p:spPr>
          <a:xfrm>
            <a:off x="548640" y="146304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method-icon-2-circle"/>
          <p:cNvSpPr/>
          <p:nvPr/>
        </p:nvSpPr>
        <p:spPr>
          <a:xfrm>
            <a:off x="4769968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method-icon-2" descr="method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73736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دراسة الحالة</a:t>
            </a:r>
            <a:endParaRPr lang="ar-SA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74320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تحليل موقف واقعي واتخاذ قرار فيه</a:t>
            </a:r>
            <a:endParaRPr lang="ar-SA" sz="1700" dirty="0"/>
          </a:p>
        </p:txBody>
      </p:sp>
      <p:sp>
        <p:nvSpPr>
          <p:cNvPr id="13" name="method-card-3"/>
          <p:cNvSpPr/>
          <p:nvPr/>
        </p:nvSpPr>
        <p:spPr>
          <a:xfrm>
            <a:off x="6278728" y="388620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method-icon-3-circle"/>
          <p:cNvSpPr/>
          <p:nvPr/>
        </p:nvSpPr>
        <p:spPr>
          <a:xfrm>
            <a:off x="10500055" y="42062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hod-icon-3" descr="method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4434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53048" y="416052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لعب الأدوار</a:t>
            </a:r>
            <a:endParaRPr lang="ar-SA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553048" y="516636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التدرب على مهارة تواصل أو تعامل مع موقف</a:t>
            </a:r>
            <a:endParaRPr lang="ar-SA" sz="1700" dirty="0"/>
          </a:p>
        </p:txBody>
      </p:sp>
      <p:sp>
        <p:nvSpPr>
          <p:cNvPr id="18" name="method-card-4"/>
          <p:cNvSpPr/>
          <p:nvPr/>
        </p:nvSpPr>
        <p:spPr>
          <a:xfrm>
            <a:off x="548640" y="388620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method-icon-4-circle"/>
          <p:cNvSpPr/>
          <p:nvPr/>
        </p:nvSpPr>
        <p:spPr>
          <a:xfrm>
            <a:off x="4769968" y="42062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method-icon-4" descr="method-icon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568" y="44348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16052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ورش العمل الجماعية</a:t>
            </a:r>
            <a:endParaRPr lang="ar-SA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6636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إنتاج مشترك: خطة، برنامج، وسيلة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طرق تدريب الراشدين (2 من 2)</a:t>
            </a:r>
            <a:endParaRPr lang="ar-SA" sz="3400" dirty="0"/>
          </a:p>
        </p:txBody>
      </p:sp>
      <p:sp>
        <p:nvSpPr>
          <p:cNvPr id="3" name="method-card-5"/>
          <p:cNvSpPr/>
          <p:nvPr/>
        </p:nvSpPr>
        <p:spPr>
          <a:xfrm>
            <a:off x="6278728" y="146304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method-icon-5-circle"/>
          <p:cNvSpPr/>
          <p:nvPr/>
        </p:nvSpPr>
        <p:spPr>
          <a:xfrm>
            <a:off x="10500055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method-icon-5" descr="method-icon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53048" y="173736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المحاكاة والتطبيق العملي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553048" y="274320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المهارات الميدانية</a:t>
            </a:r>
            <a:endParaRPr lang="ar-SA" sz="1700" dirty="0"/>
          </a:p>
        </p:txBody>
      </p:sp>
      <p:sp>
        <p:nvSpPr>
          <p:cNvPr id="8" name="method-card-6"/>
          <p:cNvSpPr/>
          <p:nvPr/>
        </p:nvSpPr>
        <p:spPr>
          <a:xfrm>
            <a:off x="548640" y="146304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method-icon-6-circle"/>
          <p:cNvSpPr/>
          <p:nvPr/>
        </p:nvSpPr>
        <p:spPr>
          <a:xfrm>
            <a:off x="4769968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method-icon-6" descr="method-icon-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73736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النقاش الموجّه</a:t>
            </a:r>
            <a:endParaRPr lang="ar-SA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74320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القيم والاتجاهات والقضايا الخلافية</a:t>
            </a:r>
            <a:endParaRPr lang="ar-SA" sz="1700" dirty="0"/>
          </a:p>
        </p:txBody>
      </p:sp>
      <p:sp>
        <p:nvSpPr>
          <p:cNvPr id="13" name="method-card-7"/>
          <p:cNvSpPr/>
          <p:nvPr/>
        </p:nvSpPr>
        <p:spPr>
          <a:xfrm>
            <a:off x="6278728" y="388620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method-icon-7-circle"/>
          <p:cNvSpPr/>
          <p:nvPr/>
        </p:nvSpPr>
        <p:spPr>
          <a:xfrm>
            <a:off x="10500055" y="42062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hod-icon-7" descr="method-icon-7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4434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53048" y="416052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العرض القصير</a:t>
            </a:r>
            <a:endParaRPr lang="ar-SA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553048" y="516636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المعلومة الضرورية فقط، ولا يتجاوز 15 – 20 دقيقة</a:t>
            </a:r>
            <a:endParaRPr lang="ar-SA" sz="1700" dirty="0"/>
          </a:p>
        </p:txBody>
      </p:sp>
      <p:sp>
        <p:nvSpPr>
          <p:cNvPr id="18" name="method-card-8"/>
          <p:cNvSpPr/>
          <p:nvPr/>
        </p:nvSpPr>
        <p:spPr>
          <a:xfrm>
            <a:off x="548640" y="3886200"/>
            <a:ext cx="536432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method-icon-8-circle"/>
          <p:cNvSpPr/>
          <p:nvPr/>
        </p:nvSpPr>
        <p:spPr>
          <a:xfrm>
            <a:off x="4769968" y="42062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method-icon-8" descr="method-icon-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568" y="44348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160520"/>
            <a:ext cx="371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التعلم بالمشروع</a:t>
            </a:r>
            <a:endParaRPr lang="ar-SA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66360"/>
            <a:ext cx="48156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E6E66"/>
                </a:solidFill>
              </a:rPr>
              <a:t>متى تناسب؟ 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نقل التدريب إلى الواقع بعد الدورة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القاعدة: الطريقة تُختار حسب الهدف</a:t>
            </a:r>
            <a:endParaRPr lang="ar-SA" sz="3400" dirty="0"/>
          </a:p>
        </p:txBody>
      </p:sp>
      <p:sp>
        <p:nvSpPr>
          <p:cNvPr id="3" name="goal-1"/>
          <p:cNvSpPr/>
          <p:nvPr/>
        </p:nvSpPr>
        <p:spPr>
          <a:xfrm>
            <a:off x="8188757" y="1554480"/>
            <a:ext cx="345429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goal-icon-1-circle"/>
          <p:cNvSpPr/>
          <p:nvPr/>
        </p:nvSpPr>
        <p:spPr>
          <a:xfrm>
            <a:off x="9458706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goal-icon-1" descr="goal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7306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71637" y="269748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المعلومة</a:t>
            </a:r>
            <a:endParaRPr lang="ar-SA" sz="2400" dirty="0"/>
          </a:p>
        </p:txBody>
      </p:sp>
      <p:pic>
        <p:nvPicPr>
          <p:cNvPr id="7" name="goal-arrow-1" descr="سه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586" y="3474720"/>
            <a:ext cx="548640" cy="548640"/>
          </a:xfrm>
          <a:prstGeom prst="rect">
            <a:avLst/>
          </a:prstGeom>
        </p:spPr>
      </p:pic>
      <p:sp>
        <p:nvSpPr>
          <p:cNvPr id="8" name="method-1"/>
          <p:cNvSpPr/>
          <p:nvPr/>
        </p:nvSpPr>
        <p:spPr>
          <a:xfrm>
            <a:off x="8188757" y="4206240"/>
            <a:ext cx="345429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371637" y="4206240"/>
            <a:ext cx="30885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بالعرض</a:t>
            </a:r>
            <a:endParaRPr lang="ar-SA" sz="2400" dirty="0"/>
          </a:p>
        </p:txBody>
      </p:sp>
      <p:sp>
        <p:nvSpPr>
          <p:cNvPr id="10" name="goal-2"/>
          <p:cNvSpPr/>
          <p:nvPr/>
        </p:nvSpPr>
        <p:spPr>
          <a:xfrm>
            <a:off x="4368698" y="1554480"/>
            <a:ext cx="345429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1" name="goal-icon-2-circle"/>
          <p:cNvSpPr/>
          <p:nvPr/>
        </p:nvSpPr>
        <p:spPr>
          <a:xfrm>
            <a:off x="5638648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goal-icon-2" descr="goal-icon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19659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51578" y="269748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المهارة</a:t>
            </a:r>
            <a:endParaRPr lang="ar-SA" sz="2400" dirty="0"/>
          </a:p>
        </p:txBody>
      </p:sp>
      <p:pic>
        <p:nvPicPr>
          <p:cNvPr id="14" name="goal-arrow-2" descr="سه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28" y="3474720"/>
            <a:ext cx="548640" cy="548640"/>
          </a:xfrm>
          <a:prstGeom prst="rect">
            <a:avLst/>
          </a:prstGeom>
        </p:spPr>
      </p:pic>
      <p:sp>
        <p:nvSpPr>
          <p:cNvPr id="15" name="method-2"/>
          <p:cNvSpPr/>
          <p:nvPr/>
        </p:nvSpPr>
        <p:spPr>
          <a:xfrm>
            <a:off x="4368698" y="4206240"/>
            <a:ext cx="345429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4551578" y="4206240"/>
            <a:ext cx="30885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بالتطبيق</a:t>
            </a:r>
            <a:endParaRPr lang="ar-SA" sz="2400" dirty="0"/>
          </a:p>
        </p:txBody>
      </p:sp>
      <p:sp>
        <p:nvSpPr>
          <p:cNvPr id="17" name="goal-3"/>
          <p:cNvSpPr/>
          <p:nvPr/>
        </p:nvSpPr>
        <p:spPr>
          <a:xfrm>
            <a:off x="548640" y="1554480"/>
            <a:ext cx="345429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8" name="goal-icon-3-circle"/>
          <p:cNvSpPr/>
          <p:nvPr/>
        </p:nvSpPr>
        <p:spPr>
          <a:xfrm>
            <a:off x="1818589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goal-icon-3" descr="goal-icon-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189" y="196596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31520" y="269748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الاتجاه</a:t>
            </a:r>
            <a:endParaRPr lang="ar-SA" sz="2400" dirty="0"/>
          </a:p>
        </p:txBody>
      </p:sp>
      <p:pic>
        <p:nvPicPr>
          <p:cNvPr id="21" name="goal-arrow-3" descr="سهم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469" y="3474720"/>
            <a:ext cx="548640" cy="548640"/>
          </a:xfrm>
          <a:prstGeom prst="rect">
            <a:avLst/>
          </a:prstGeom>
        </p:spPr>
      </p:pic>
      <p:sp>
        <p:nvSpPr>
          <p:cNvPr id="22" name="method-3"/>
          <p:cNvSpPr/>
          <p:nvPr/>
        </p:nvSpPr>
        <p:spPr>
          <a:xfrm>
            <a:off x="548640" y="4206240"/>
            <a:ext cx="345429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731520" y="4206240"/>
            <a:ext cx="30885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بالنقاش ودراسة الحالة</a:t>
            </a:r>
            <a:endParaRPr lang="ar-SA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درّب الراشد كما يتعلم</a:t>
            </a:r>
            <a:endParaRPr lang="ar-SA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2"/>
                </a:solidFill>
              </a:rPr>
              <a:t>احترم خبرته  •  أشركه  •  اربطه بالواقع  •  ركّز المحتوى</a:t>
            </a:r>
            <a:endParaRPr lang="ar-SA" sz="2200" dirty="0"/>
          </a:p>
        </p:txBody>
      </p:sp>
      <p:pic>
        <p:nvPicPr>
          <p:cNvPr id="4" name="closing-icon" descr="مخي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CFE0D5"/>
                </a:solidFill>
              </a:rPr>
              <a:t>كن مستعدًّا</a:t>
            </a:r>
            <a:endParaRPr lang="ar-SA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out Trainer">
  <a:themeElements>
    <a:clrScheme name="Scout Trainer">
      <a:dk1>
        <a:srgbClr val="1C2B24"/>
      </a:dk1>
      <a:lt1>
        <a:srgbClr val="FFFFFF"/>
      </a:lt1>
      <a:dk2>
        <a:srgbClr val="1F4D3A"/>
      </a:dk2>
      <a:lt2>
        <a:srgbClr val="EAF2EC"/>
      </a:lt2>
      <a:accent1>
        <a:srgbClr val="1F4D3A"/>
      </a:accent1>
      <a:accent2>
        <a:srgbClr val="D9A425"/>
      </a:accent2>
      <a:accent3>
        <a:srgbClr val="2E6B50"/>
      </a:accent3>
      <a:accent4>
        <a:srgbClr val="B23A3A"/>
      </a:accent4>
      <a:accent5>
        <a:srgbClr val="5E6E66"/>
      </a:accent5>
      <a:accent6>
        <a:srgbClr val="8FB59E"/>
      </a:accent6>
      <a:hlink>
        <a:srgbClr val="2E6B50"/>
      </a:hlink>
      <a:folHlink>
        <a:srgbClr val="5E6E66"/>
      </a:folHlink>
    </a:clrScheme>
    <a:fontScheme name="Scout Trai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خصائص الراشدين</dc:title>
  <dc:subject>دورة مساعد قائد تدريب</dc:subject>
  <dc:creator>فريق التدريب الكشفي</dc:creator>
  <cp:lastModifiedBy>فريق التدريب الكشفي</cp:lastModifiedBy>
  <cp:revision>1</cp:revision>
  <dcterms:created xsi:type="dcterms:W3CDTF">2026-10-29T14:31:34Z</dcterms:created>
  <dcterms:modified xsi:type="dcterms:W3CDTF">2026-10-29T14:31:34Z</dcterms:modified>
</cp:coreProperties>
</file>