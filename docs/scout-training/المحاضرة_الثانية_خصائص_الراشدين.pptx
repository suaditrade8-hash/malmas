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افتتاح" id="{42a3b00c-9783-e7c5-245c-a50c14b61ab7}">
          <p14:sldIdLst>
            <p14:sldId id="256"/>
          </p14:sldIdLst>
        </p14:section>
        <p14:section name="الخصائص" id="{85d126a2-b843-1ae9-4566-ab3f7ef0591f}">
          <p14:sldIdLst>
            <p14:sldId id="257"/>
            <p14:sldId id="258"/>
          </p14:sldIdLst>
        </p14:section>
        <p14:section name="الاحتياجات" id="{a8f13191-d63d-5dbf-68e2-461d1c6054fc}">
          <p14:sldIdLst>
            <p14:sldId id="259"/>
          </p14:sldIdLst>
        </p14:section>
        <p14:section name="طرق التدريب" id="{e063c018-9bb7-aef1-c71c-85c1eba843dc}">
          <p14:sldIdLst>
            <p14:sldId id="260"/>
            <p14:sldId id="261"/>
            <p14:sldId id="262"/>
          </p14:sldIdLst>
        </p14:section>
        <p14:section name="الختام" id="{c05d76eb-b7ea-6def-7b63-6159aacaf7c7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افتح بسؤال: تذكّر دورة حضرتها وشعرت أنها لا تحترم خبرتك أو وقتك. ماذا كان ينقصها؟ اجمع إجابتين أو ثلاثًا ثم اربطها بالخصائص الست.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مرّ على الخصائص سريعًا؛ التفصيل في جدول الاحتياجات. اطلب من المشاركين اختيار الخاصية التي يرونها الأكثر تأثيرًا في وحداتهم.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هذا تصحيح للخاصية السادسة. اشرح أن المشكلة ليست في ذكاء الراشد بل في حمولة ذهنه: عمل وأسرة ووحدة كشفية. نشاط: اعرض 10 كلمات لمدة 20 ثانية ثم اطلب استرجاعها، ثم كرّر بثلاث مجموعات من 3–4 كلمات مع ربط كل مجموعة بمثال.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كل خاصية تولّد احتياجًا، وكل احتياج يقابله إجراء تدريبي. اطلب من كل مجموعة إضافة إجراء ثانٍ لخاصية واحدة من واقع تجربتهم.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لكل طريقة موضع يناسبها. اسأل: متى استخدمتم لعب الأدوار في دورة سابقة؟ وهل خدم الهدف؟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نبّه إلى أن العرض القصير ليس الطريقة الأساسية مع الراشدين؛ هو للمعلومة الضرورية فقط ولا يتجاوز 15 – 20 دقيقة. التعلم بالمشروع يضمن انتقال أثر الدورة إلى الوحدة.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تمرين سريع: اقرأ أهدافًا من جلسات الدورة (مثل: يعدّد مراحل الطريقة الكشفية / يعقد عقدة الربطة / يقدّر قيمة العمل الجماعي) واطلب من المشاركين تحديد نوع الهدف والطريقة المناسبة.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ختام: اطلب من كل مشارك كتابة إجراء واحد سيغيّره في طريقة تدريبه بعد هذه المحاضرة. وزّع جدول الاحتياجات ملخصًا مكتوبًا تطبيقًا لخاصية الذاكرة العاملة.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554480" cy="15544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48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SA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22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SA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743200"/>
            <a:ext cx="871697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ar-SA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840480"/>
            <a:ext cx="871697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2000" dirty="0">
                <a:solidFill>
                  <a:schemeClr val="bg2"/>
                </a:solidFill>
              </a:defRPr>
            </a:lvl1pPr>
          </a:lstStyle>
          <a:p>
            <a:pPr algn="r" indent="0" marL="0">
              <a:buNone/>
            </a:pP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شعار الكشافة الإسلامية الجزائر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822960" cy="82296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ar-SA" altLang="en-US" sz="34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ar-SA" sz="3400" dirty="0"/>
          </a:p>
        </p:txBody>
      </p:sp>
      <p:sp>
        <p:nvSpPr>
          <p:cNvPr id="4" name="Text 0"/>
          <p:cNvSpPr/>
          <p:nvPr/>
        </p:nvSpPr>
        <p:spPr>
          <a:xfrm>
            <a:off x="3657600" y="6355080"/>
            <a:ext cx="79854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1000" dirty="0">
                <a:solidFill>
                  <a:srgbClr val="5E6E66"/>
                </a:solidFill>
              </a:rPr>
              <a:t>الكشافة الإسلامية الجزائرية  |  دورة مساعد قائد تدريب  |  المحاضرة الثانية: خصائص الراشدين</a:t>
            </a:r>
            <a:endParaRPr lang="ar-SA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CFE0D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800" b="1" dirty="0">
                <a:solidFill>
                  <a:schemeClr val="bg1"/>
                </a:solidFill>
              </a:rPr>
              <a:t>خصائص الراشدين</a:t>
            </a:r>
            <a:endParaRPr lang="ar-SA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</a:rPr>
              <a:t>المحاضرة الثانية  —  دورة مساعد قائد تدريب</a:t>
            </a:r>
            <a:endParaRPr lang="ar-SA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76072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0D5"/>
                </a:solidFill>
              </a:rPr>
              <a:t>كيف يتعلم الراشد؟ وكيف ندرّبه؟</a:t>
            </a:r>
            <a:endParaRPr lang="ar-SA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الخصائص الست للمتعلم الراشد</a:t>
            </a:r>
            <a:endParaRPr lang="ar-SA" sz="3400" dirty="0"/>
          </a:p>
        </p:txBody>
      </p:sp>
      <p:sp>
        <p:nvSpPr>
          <p:cNvPr id="3" name="char-card-1"/>
          <p:cNvSpPr/>
          <p:nvPr/>
        </p:nvSpPr>
        <p:spPr>
          <a:xfrm>
            <a:off x="6278728" y="14173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char-icon-1-circle"/>
          <p:cNvSpPr/>
          <p:nvPr/>
        </p:nvSpPr>
        <p:spPr>
          <a:xfrm>
            <a:off x="10591495" y="16916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char-icon-1" descr="char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7235" y="18973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53048" y="16002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01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خبرة تراكمية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553048" y="21488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يأتي محمّلًا بتجارب يريد أن تُحترم وتُستثمر</a:t>
            </a:r>
            <a:endParaRPr lang="ar-SA" sz="1600" dirty="0"/>
          </a:p>
        </p:txBody>
      </p:sp>
      <p:sp>
        <p:nvSpPr>
          <p:cNvPr id="8" name="char-card-2"/>
          <p:cNvSpPr/>
          <p:nvPr/>
        </p:nvSpPr>
        <p:spPr>
          <a:xfrm>
            <a:off x="548640" y="14173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char-icon-2-circle"/>
          <p:cNvSpPr/>
          <p:nvPr/>
        </p:nvSpPr>
        <p:spPr>
          <a:xfrm>
            <a:off x="4861408" y="16916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char-icon-2" descr="char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48" y="18973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002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02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الاستقلالية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1488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يريد أن يشارك في القرار لا أن يُملى عليه</a:t>
            </a:r>
            <a:endParaRPr lang="ar-SA" sz="1600" dirty="0"/>
          </a:p>
        </p:txBody>
      </p:sp>
      <p:sp>
        <p:nvSpPr>
          <p:cNvPr id="13" name="char-card-3"/>
          <p:cNvSpPr/>
          <p:nvPr/>
        </p:nvSpPr>
        <p:spPr>
          <a:xfrm>
            <a:off x="6278728" y="30175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4" name="char-icon-3-circle"/>
          <p:cNvSpPr/>
          <p:nvPr/>
        </p:nvSpPr>
        <p:spPr>
          <a:xfrm>
            <a:off x="10591495" y="32918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char-icon-3" descr="char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97235" y="349758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53048" y="32004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03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الدافعية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553048" y="37490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يتعلم حين يرى معنى لما يتعلمه</a:t>
            </a:r>
            <a:endParaRPr lang="ar-SA" sz="1600" dirty="0"/>
          </a:p>
        </p:txBody>
      </p:sp>
      <p:sp>
        <p:nvSpPr>
          <p:cNvPr id="18" name="char-card-4"/>
          <p:cNvSpPr/>
          <p:nvPr/>
        </p:nvSpPr>
        <p:spPr>
          <a:xfrm>
            <a:off x="548640" y="30175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char-icon-4-circle"/>
          <p:cNvSpPr/>
          <p:nvPr/>
        </p:nvSpPr>
        <p:spPr>
          <a:xfrm>
            <a:off x="4861408" y="32918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char-icon-4" descr="char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7148" y="349758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32004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04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البراغماتية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37490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يبحث عن فائدة مباشرة قابلة للتطبيق</a:t>
            </a:r>
            <a:endParaRPr lang="ar-SA" sz="1600" dirty="0"/>
          </a:p>
        </p:txBody>
      </p:sp>
      <p:sp>
        <p:nvSpPr>
          <p:cNvPr id="23" name="char-card-5"/>
          <p:cNvSpPr/>
          <p:nvPr/>
        </p:nvSpPr>
        <p:spPr>
          <a:xfrm>
            <a:off x="6278728" y="46177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4" name="char-icon-5-circle"/>
          <p:cNvSpPr/>
          <p:nvPr/>
        </p:nvSpPr>
        <p:spPr>
          <a:xfrm>
            <a:off x="10591495" y="48920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char-icon-5" descr="char-icon-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97235" y="50977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553048" y="48006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05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ضغط المسؤوليات</a:t>
            </a:r>
            <a:endParaRPr lang="ar-SA" sz="2200" dirty="0"/>
          </a:p>
        </p:txBody>
      </p:sp>
      <p:sp>
        <p:nvSpPr>
          <p:cNvPr id="27" name="Text 20"/>
          <p:cNvSpPr txBox="1"/>
          <p:nvPr/>
        </p:nvSpPr>
        <p:spPr>
          <a:xfrm>
            <a:off x="6553048" y="53492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وقته محدود ومشغول بالعمل والأسرة والوحدة</a:t>
            </a:r>
            <a:endParaRPr lang="ar-SA" sz="1600" dirty="0"/>
          </a:p>
        </p:txBody>
      </p:sp>
      <p:sp>
        <p:nvSpPr>
          <p:cNvPr id="28" name="char-card-6"/>
          <p:cNvSpPr/>
          <p:nvPr/>
        </p:nvSpPr>
        <p:spPr>
          <a:xfrm>
            <a:off x="548640" y="4617720"/>
            <a:ext cx="5364328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29" name="char-icon-6-circle"/>
          <p:cNvSpPr/>
          <p:nvPr/>
        </p:nvSpPr>
        <p:spPr>
          <a:xfrm>
            <a:off x="4861408" y="4892040"/>
            <a:ext cx="822960" cy="82296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char-icon-6" descr="char-icon-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7148" y="50977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22960" y="480060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2200" b="1" dirty="0">
                <a:solidFill>
                  <a:srgbClr val="D7141A"/>
                </a:solidFill>
              </a:rPr>
              <a:t>06  </a:t>
            </a:r>
            <a:pPr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الذاكرة العاملة</a:t>
            </a:r>
            <a:endParaRPr lang="ar-SA" sz="2200" dirty="0"/>
          </a:p>
        </p:txBody>
      </p:sp>
      <p:sp>
        <p:nvSpPr>
          <p:cNvPr id="32" name="Text 24"/>
          <p:cNvSpPr txBox="1"/>
          <p:nvPr/>
        </p:nvSpPr>
        <p:spPr>
          <a:xfrm>
            <a:off x="822960" y="5349240"/>
            <a:ext cx="39012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قدرته على الاحتفاظ بالجديد ومعالجته معًا محدودة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الخاصية السادسة: الذاكرة العاملة</a:t>
            </a:r>
            <a:endParaRPr lang="ar-SA" sz="3400" dirty="0"/>
          </a:p>
        </p:txBody>
      </p:sp>
      <p:sp>
        <p:nvSpPr>
          <p:cNvPr id="3" name="memory-def"/>
          <p:cNvSpPr/>
          <p:nvPr/>
        </p:nvSpPr>
        <p:spPr>
          <a:xfrm>
            <a:off x="5333695" y="1463040"/>
            <a:ext cx="630936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4" name="memory-icon-circle"/>
          <p:cNvSpPr/>
          <p:nvPr/>
        </p:nvSpPr>
        <p:spPr>
          <a:xfrm>
            <a:off x="10408615" y="17373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memory-icon" descr="memory-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7215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08015" y="18288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bg2"/>
                </a:solidFill>
              </a:rPr>
              <a:t>التعريف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608015" y="2880360"/>
            <a:ext cx="5760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200" dirty="0">
                <a:solidFill>
                  <a:schemeClr val="bg1"/>
                </a:solidFill>
              </a:rPr>
              <a:t>قدرة الراشد على الاحتفاظ بمعلومات جديدة ومعالجتها في وقت واحد محدودة، وتتأثر بانشغاله بمسؤولياته</a:t>
            </a:r>
            <a:endParaRPr lang="ar-SA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4630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لذلك يُقدَّم المحتوى:</a:t>
            </a:r>
            <a:endParaRPr lang="ar-SA" sz="2000" dirty="0"/>
          </a:p>
        </p:txBody>
      </p:sp>
      <p:sp>
        <p:nvSpPr>
          <p:cNvPr id="9" name="mem-card-1"/>
          <p:cNvSpPr/>
          <p:nvPr/>
        </p:nvSpPr>
        <p:spPr>
          <a:xfrm>
            <a:off x="548640" y="2103120"/>
            <a:ext cx="47548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0" name="mem-icon-1" descr="في وحدات صغير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228600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1520" y="210312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في وحدات صغيرة</a:t>
            </a:r>
            <a:endParaRPr lang="ar-SA" sz="2000" dirty="0"/>
          </a:p>
        </p:txBody>
      </p:sp>
      <p:sp>
        <p:nvSpPr>
          <p:cNvPr id="12" name="mem-card-2"/>
          <p:cNvSpPr/>
          <p:nvPr/>
        </p:nvSpPr>
        <p:spPr>
          <a:xfrm>
            <a:off x="548640" y="3200400"/>
            <a:ext cx="47548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3" name="mem-icon-2" descr="مع تطبيق فوري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38328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31520" y="320040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مع تطبيق فوري</a:t>
            </a:r>
            <a:endParaRPr lang="ar-SA" sz="2000" dirty="0"/>
          </a:p>
        </p:txBody>
      </p:sp>
      <p:sp>
        <p:nvSpPr>
          <p:cNvPr id="15" name="mem-card-3"/>
          <p:cNvSpPr/>
          <p:nvPr/>
        </p:nvSpPr>
        <p:spPr>
          <a:xfrm>
            <a:off x="548640" y="4297680"/>
            <a:ext cx="475488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pic>
        <p:nvPicPr>
          <p:cNvPr id="16" name="mem-icon-3" descr="ثم مراجعة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4480560"/>
            <a:ext cx="502920" cy="5029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31520" y="4297680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ثم مراجعة</a:t>
            </a:r>
            <a:endParaRPr lang="ar-SA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" y="54406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1600" i="1" dirty="0">
                <a:solidFill>
                  <a:schemeClr val="accent4"/>
                </a:solidFill>
              </a:rPr>
              <a:t>بدل سيل من المعلومات المتصلة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كيف نلبّي احتياجات الراشد؟</a:t>
            </a:r>
            <a:endParaRPr lang="ar-SA" sz="3400" dirty="0"/>
          </a:p>
        </p:txBody>
      </p:sp>
      <p:graphicFrame>
        <p:nvGraphicFramePr>
          <p:cNvPr id="5" name="need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4415" cy="914400"/>
        </p:xfrm>
        <a:graphic>
          <a:graphicData uri="http://schemas.openxmlformats.org/drawingml/2006/table">
            <a:tbl>
              <a:tblPr/>
              <a:tblGrid>
                <a:gridCol w="5242255"/>
                <a:gridCol w="3291840"/>
                <a:gridCol w="2560320"/>
              </a:tblGrid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700" b="1" dirty="0">
                          <a:solidFill>
                            <a:srgbClr val="FFFFFF"/>
                          </a:solidFill>
                        </a:rPr>
                        <a:t>كيف نلبّيه</a:t>
                      </a:r>
                      <a:endParaRPr lang="ar-SA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700" b="1" dirty="0">
                          <a:solidFill>
                            <a:srgbClr val="FFFFFF"/>
                          </a:solidFill>
                        </a:rPr>
                        <a:t>الاحتياج الذي تولّده</a:t>
                      </a:r>
                      <a:endParaRPr lang="ar-SA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700" b="1" dirty="0">
                          <a:solidFill>
                            <a:srgbClr val="FFFFFF"/>
                          </a:solidFill>
                        </a:rPr>
                        <a:t>الخاصية</a:t>
                      </a:r>
                      <a:endParaRPr lang="ar-SA" sz="17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32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نبدأ بسؤاله عن تجربته، ونبني عليها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أن تُحترم خبرته وتُستثمر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خبرة تراكمية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نترك له خيارات في المهام والطريقة، ونشركه في تحديد أهدافه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أن يشارك في القرار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الاستقلالية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نربط كل جلسة بدوره الفعلي في الوحدة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أن يرى معنى لما يتعلمه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الدافعية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نختم كل جلسة بأداة يستخدمها في اجتماعه القادم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فائدة مباشرة قابلة للتطبيق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البراغماتية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التزام بالمواعيد، وحذف ما لا يخدم الهدف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وقت محترم ومحتوى مركّز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ضغط المسؤوليات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5EC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وحدات قصيرة، وتطبيق فوري، وملخص مكتوب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dirty="0">
                          <a:solidFill>
                            <a:srgbClr val="000000"/>
                          </a:solidFill>
                        </a:rPr>
                        <a:t>محتوى غير مزدحم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 indent="0" marL="0">
                        <a:buNone/>
                      </a:pPr>
                      <a:r>
                        <a:rPr lang="ar-SA" altLang="en-US" sz="1500" b="1" dirty="0">
                          <a:solidFill>
                            <a:srgbClr val="00632B"/>
                          </a:solidFill>
                        </a:rPr>
                        <a:t>الذاكرة العاملة</a:t>
                      </a:r>
                      <a:endParaRPr lang="ar-SA" sz="15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9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طرق تدريب الراشدين (1 من 2)</a:t>
            </a:r>
            <a:endParaRPr lang="ar-SA" sz="3400" dirty="0"/>
          </a:p>
        </p:txBody>
      </p:sp>
      <p:sp>
        <p:nvSpPr>
          <p:cNvPr id="3" name="method-card-1"/>
          <p:cNvSpPr/>
          <p:nvPr/>
        </p:nvSpPr>
        <p:spPr>
          <a:xfrm>
            <a:off x="6278728" y="146304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method-icon-1-circle"/>
          <p:cNvSpPr/>
          <p:nvPr/>
        </p:nvSpPr>
        <p:spPr>
          <a:xfrm>
            <a:off x="10500055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method-icon-1" descr="method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53048" y="173736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العصف الذهني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553048" y="274320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توليد أفكار واستثمار خبرات المجموعة</a:t>
            </a:r>
            <a:endParaRPr lang="ar-SA" sz="1700" dirty="0"/>
          </a:p>
        </p:txBody>
      </p:sp>
      <p:sp>
        <p:nvSpPr>
          <p:cNvPr id="8" name="method-card-2"/>
          <p:cNvSpPr/>
          <p:nvPr/>
        </p:nvSpPr>
        <p:spPr>
          <a:xfrm>
            <a:off x="548640" y="146304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method-icon-2-circle"/>
          <p:cNvSpPr/>
          <p:nvPr/>
        </p:nvSpPr>
        <p:spPr>
          <a:xfrm>
            <a:off x="4769968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method-icon-2" descr="method-icon-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568" y="201168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73736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دراسة الحالة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74320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تحليل موقف واقعي واتخاذ قرار فيه</a:t>
            </a:r>
            <a:endParaRPr lang="ar-SA" sz="1700" dirty="0"/>
          </a:p>
        </p:txBody>
      </p:sp>
      <p:sp>
        <p:nvSpPr>
          <p:cNvPr id="13" name="method-card-3"/>
          <p:cNvSpPr/>
          <p:nvPr/>
        </p:nvSpPr>
        <p:spPr>
          <a:xfrm>
            <a:off x="6278728" y="388620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method-icon-3-circle"/>
          <p:cNvSpPr/>
          <p:nvPr/>
        </p:nvSpPr>
        <p:spPr>
          <a:xfrm>
            <a:off x="10500055" y="4206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hod-icon-3" descr="method-icon-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44348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53048" y="416052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لعب الأدوار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553048" y="516636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التدرب على مهارة تواصل أو تعامل مع موقف</a:t>
            </a:r>
            <a:endParaRPr lang="ar-SA" sz="1700" dirty="0"/>
          </a:p>
        </p:txBody>
      </p:sp>
      <p:sp>
        <p:nvSpPr>
          <p:cNvPr id="18" name="method-card-4"/>
          <p:cNvSpPr/>
          <p:nvPr/>
        </p:nvSpPr>
        <p:spPr>
          <a:xfrm>
            <a:off x="548640" y="388620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method-icon-4-circle"/>
          <p:cNvSpPr/>
          <p:nvPr/>
        </p:nvSpPr>
        <p:spPr>
          <a:xfrm>
            <a:off x="4769968" y="4206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method-icon-4" descr="method-icon-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68" y="443484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16052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ورش العمل الجماعية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6636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إنتاج مشترك: خطة، برنامج، وسيلة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طرق تدريب الراشدين (2 من 2)</a:t>
            </a:r>
            <a:endParaRPr lang="ar-SA" sz="3400" dirty="0"/>
          </a:p>
        </p:txBody>
      </p:sp>
      <p:sp>
        <p:nvSpPr>
          <p:cNvPr id="3" name="method-card-5"/>
          <p:cNvSpPr/>
          <p:nvPr/>
        </p:nvSpPr>
        <p:spPr>
          <a:xfrm>
            <a:off x="6278728" y="146304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4" name="method-icon-5-circle"/>
          <p:cNvSpPr/>
          <p:nvPr/>
        </p:nvSpPr>
        <p:spPr>
          <a:xfrm>
            <a:off x="10500055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method-icon-5" descr="method-icon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8655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53048" y="173736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المحاكاة والتطبيق العملي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553048" y="274320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المهارات الميدانية</a:t>
            </a:r>
            <a:endParaRPr lang="ar-SA" sz="1700" dirty="0"/>
          </a:p>
        </p:txBody>
      </p:sp>
      <p:sp>
        <p:nvSpPr>
          <p:cNvPr id="8" name="method-card-6"/>
          <p:cNvSpPr/>
          <p:nvPr/>
        </p:nvSpPr>
        <p:spPr>
          <a:xfrm>
            <a:off x="548640" y="146304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9" name="method-icon-6-circle"/>
          <p:cNvSpPr/>
          <p:nvPr/>
        </p:nvSpPr>
        <p:spPr>
          <a:xfrm>
            <a:off x="4769968" y="17830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method-icon-6" descr="method-icon-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8568" y="201168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73736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النقاش الموجّه</a:t>
            </a:r>
            <a:endParaRPr lang="ar-SA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74320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القيم والاتجاهات والقضايا الخلافية</a:t>
            </a:r>
            <a:endParaRPr lang="ar-SA" sz="1700" dirty="0"/>
          </a:p>
        </p:txBody>
      </p:sp>
      <p:sp>
        <p:nvSpPr>
          <p:cNvPr id="13" name="method-card-7"/>
          <p:cNvSpPr/>
          <p:nvPr/>
        </p:nvSpPr>
        <p:spPr>
          <a:xfrm>
            <a:off x="6278728" y="388620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4" name="method-icon-7-circle"/>
          <p:cNvSpPr/>
          <p:nvPr/>
        </p:nvSpPr>
        <p:spPr>
          <a:xfrm>
            <a:off x="10500055" y="4206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method-icon-7" descr="method-icon-7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28655" y="443484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53048" y="416052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العرض القصير</a:t>
            </a:r>
            <a:endParaRPr lang="ar-SA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6553048" y="516636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المعلومة الضرورية فقط، ولا يتجاوز 15 – 20 دقيقة</a:t>
            </a:r>
            <a:endParaRPr lang="ar-SA" sz="1700" dirty="0"/>
          </a:p>
        </p:txBody>
      </p:sp>
      <p:sp>
        <p:nvSpPr>
          <p:cNvPr id="18" name="method-card-8"/>
          <p:cNvSpPr/>
          <p:nvPr/>
        </p:nvSpPr>
        <p:spPr>
          <a:xfrm>
            <a:off x="548640" y="3886200"/>
            <a:ext cx="5364328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/>
        </p:spPr>
      </p:sp>
      <p:sp>
        <p:nvSpPr>
          <p:cNvPr id="19" name="method-icon-8-circle"/>
          <p:cNvSpPr/>
          <p:nvPr/>
        </p:nvSpPr>
        <p:spPr>
          <a:xfrm>
            <a:off x="4769968" y="420624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method-icon-8" descr="method-icon-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8568" y="443484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160520"/>
            <a:ext cx="37184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chemeClr val="tx2"/>
                </a:solidFill>
              </a:rPr>
              <a:t>التعلم بالمشروع</a:t>
            </a:r>
            <a:endParaRPr lang="ar-SA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166360"/>
            <a:ext cx="4815688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700" b="1" dirty="0">
                <a:solidFill>
                  <a:srgbClr val="5E6E66"/>
                </a:solidFill>
              </a:rPr>
              <a:t>متى تناسب؟  </a:t>
            </a:r>
            <a:pPr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نقل التدريب إلى الواقع بعد الدورة</a:t>
            </a:r>
            <a:endParaRPr lang="ar-SA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645920" y="365760"/>
            <a:ext cx="99971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3400" b="1" dirty="0">
                <a:solidFill>
                  <a:schemeClr val="tx2"/>
                </a:solidFill>
              </a:rPr>
              <a:t>القاعدة: الطريقة تُختار حسب الهدف</a:t>
            </a:r>
            <a:endParaRPr lang="ar-SA" sz="3400" dirty="0"/>
          </a:p>
        </p:txBody>
      </p:sp>
      <p:sp>
        <p:nvSpPr>
          <p:cNvPr id="3" name="goal-1"/>
          <p:cNvSpPr/>
          <p:nvPr/>
        </p:nvSpPr>
        <p:spPr>
          <a:xfrm>
            <a:off x="8188757" y="1554480"/>
            <a:ext cx="34542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4" name="goal-icon-1-circle"/>
          <p:cNvSpPr/>
          <p:nvPr/>
        </p:nvSpPr>
        <p:spPr>
          <a:xfrm>
            <a:off x="9458706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goal-icon-1" descr="goal-icon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7306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371637" y="269748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المعلومة</a:t>
            </a:r>
            <a:endParaRPr lang="ar-SA" sz="2400" dirty="0"/>
          </a:p>
        </p:txBody>
      </p:sp>
      <p:pic>
        <p:nvPicPr>
          <p:cNvPr id="7" name="goal-arrow-1" descr="سه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1586" y="3474720"/>
            <a:ext cx="548640" cy="548640"/>
          </a:xfrm>
          <a:prstGeom prst="rect">
            <a:avLst/>
          </a:prstGeom>
        </p:spPr>
      </p:pic>
      <p:sp>
        <p:nvSpPr>
          <p:cNvPr id="8" name="method-1"/>
          <p:cNvSpPr/>
          <p:nvPr/>
        </p:nvSpPr>
        <p:spPr>
          <a:xfrm>
            <a:off x="8188757" y="4206240"/>
            <a:ext cx="345429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8371637" y="420624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bg1"/>
                </a:solidFill>
              </a:rPr>
              <a:t>بالعرض</a:t>
            </a:r>
            <a:endParaRPr lang="ar-SA" sz="2400" dirty="0"/>
          </a:p>
        </p:txBody>
      </p:sp>
      <p:sp>
        <p:nvSpPr>
          <p:cNvPr id="10" name="goal-2"/>
          <p:cNvSpPr/>
          <p:nvPr/>
        </p:nvSpPr>
        <p:spPr>
          <a:xfrm>
            <a:off x="4368698" y="1554480"/>
            <a:ext cx="34542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1" name="goal-icon-2-circle"/>
          <p:cNvSpPr/>
          <p:nvPr/>
        </p:nvSpPr>
        <p:spPr>
          <a:xfrm>
            <a:off x="5638648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goal-icon-2" descr="goal-icon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96596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51578" y="269748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المهارة</a:t>
            </a:r>
            <a:endParaRPr lang="ar-SA" sz="2400" dirty="0"/>
          </a:p>
        </p:txBody>
      </p:sp>
      <p:pic>
        <p:nvPicPr>
          <p:cNvPr id="14" name="goal-arrow-2" descr="سهم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1528" y="3474720"/>
            <a:ext cx="548640" cy="548640"/>
          </a:xfrm>
          <a:prstGeom prst="rect">
            <a:avLst/>
          </a:prstGeom>
        </p:spPr>
      </p:pic>
      <p:sp>
        <p:nvSpPr>
          <p:cNvPr id="15" name="method-2"/>
          <p:cNvSpPr/>
          <p:nvPr/>
        </p:nvSpPr>
        <p:spPr>
          <a:xfrm>
            <a:off x="4368698" y="4206240"/>
            <a:ext cx="345429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16" name="Text 10"/>
          <p:cNvSpPr txBox="1"/>
          <p:nvPr/>
        </p:nvSpPr>
        <p:spPr>
          <a:xfrm>
            <a:off x="4551578" y="420624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bg1"/>
                </a:solidFill>
              </a:rPr>
              <a:t>بالتطبيق</a:t>
            </a:r>
            <a:endParaRPr lang="ar-SA" sz="2400" dirty="0"/>
          </a:p>
        </p:txBody>
      </p:sp>
      <p:sp>
        <p:nvSpPr>
          <p:cNvPr id="17" name="goal-3"/>
          <p:cNvSpPr/>
          <p:nvPr/>
        </p:nvSpPr>
        <p:spPr>
          <a:xfrm>
            <a:off x="548640" y="1554480"/>
            <a:ext cx="3454298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18" name="goal-icon-3-circle"/>
          <p:cNvSpPr/>
          <p:nvPr/>
        </p:nvSpPr>
        <p:spPr>
          <a:xfrm>
            <a:off x="1818589" y="173736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9" name="goal-icon-3" descr="goal-icon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189" y="1965960"/>
            <a:ext cx="457200" cy="45720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731520" y="2697480"/>
            <a:ext cx="308853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tx2"/>
                </a:solidFill>
              </a:rPr>
              <a:t>الاتجاه</a:t>
            </a:r>
            <a:endParaRPr lang="ar-SA" sz="2400" dirty="0"/>
          </a:p>
        </p:txBody>
      </p:sp>
      <p:pic>
        <p:nvPicPr>
          <p:cNvPr id="21" name="goal-arrow-3" descr="سهم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01469" y="3474720"/>
            <a:ext cx="548640" cy="548640"/>
          </a:xfrm>
          <a:prstGeom prst="rect">
            <a:avLst/>
          </a:prstGeom>
        </p:spPr>
      </p:pic>
      <p:sp>
        <p:nvSpPr>
          <p:cNvPr id="22" name="method-3"/>
          <p:cNvSpPr/>
          <p:nvPr/>
        </p:nvSpPr>
        <p:spPr>
          <a:xfrm>
            <a:off x="548640" y="4206240"/>
            <a:ext cx="3454298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/>
        </p:spPr>
      </p:sp>
      <p:sp>
        <p:nvSpPr>
          <p:cNvPr id="23" name="Text 15"/>
          <p:cNvSpPr txBox="1"/>
          <p:nvPr/>
        </p:nvSpPr>
        <p:spPr>
          <a:xfrm>
            <a:off x="731520" y="4206240"/>
            <a:ext cx="3088538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400" b="1" dirty="0">
                <a:solidFill>
                  <a:schemeClr val="bg1"/>
                </a:solidFill>
              </a:rPr>
              <a:t>بالنقاش ودراسة الحالة</a:t>
            </a:r>
            <a:endParaRPr lang="ar-SA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55080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6E6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210312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4800" b="1" dirty="0">
                <a:solidFill>
                  <a:schemeClr val="bg1"/>
                </a:solidFill>
              </a:rPr>
              <a:t>درّب الراشد كما يتعلم</a:t>
            </a:r>
            <a:endParaRPr lang="ar-SA" sz="4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3474720"/>
            <a:ext cx="1109441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200" dirty="0">
                <a:solidFill>
                  <a:schemeClr val="bg2"/>
                </a:solidFill>
              </a:rPr>
              <a:t>احترم خبرته  •  أشركه  •  اربطه بالواقع  •  ركّز المحتوى</a:t>
            </a:r>
            <a:endParaRPr lang="ar-SA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ar-SA" altLang="en-US" sz="2000" b="1" dirty="0">
                <a:solidFill>
                  <a:srgbClr val="CFE0D5"/>
                </a:solidFill>
              </a:rPr>
              <a:t>كن مستعدًّا</a:t>
            </a:r>
            <a:endParaRPr lang="ar-SA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out Trainer">
  <a:themeElements>
    <a:clrScheme name="Scout Trainer">
      <a:dk1>
        <a:srgbClr val="1C2B24"/>
      </a:dk1>
      <a:lt1>
        <a:srgbClr val="FFFFFF"/>
      </a:lt1>
      <a:dk2>
        <a:srgbClr val="00632B"/>
      </a:dk2>
      <a:lt2>
        <a:srgbClr val="EAF5EC"/>
      </a:lt2>
      <a:accent1>
        <a:srgbClr val="00632B"/>
      </a:accent1>
      <a:accent2>
        <a:srgbClr val="D7141A"/>
      </a:accent2>
      <a:accent3>
        <a:srgbClr val="1E8A3E"/>
      </a:accent3>
      <a:accent4>
        <a:srgbClr val="B0101A"/>
      </a:accent4>
      <a:accent5>
        <a:srgbClr val="5E6E66"/>
      </a:accent5>
      <a:accent6>
        <a:srgbClr val="7FBF8E"/>
      </a:accent6>
      <a:hlink>
        <a:srgbClr val="1E8A3E"/>
      </a:hlink>
      <a:folHlink>
        <a:srgbClr val="5E6E66"/>
      </a:folHlink>
    </a:clrScheme>
    <a:fontScheme name="Scout Train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خصائص الراشدين</dc:title>
  <dc:subject>دورة مساعد قائد تدريب</dc:subject>
  <dc:creator>فريق التدريب الكشفي</dc:creator>
  <cp:lastModifiedBy>فريق التدريب الكشفي</cp:lastModifiedBy>
  <cp:revision>1</cp:revision>
  <dcterms:created xsi:type="dcterms:W3CDTF">2026-10-29T14:33:10Z</dcterms:created>
  <dcterms:modified xsi:type="dcterms:W3CDTF">2026-10-29T14:33:10Z</dcterms:modified>
</cp:coreProperties>
</file>