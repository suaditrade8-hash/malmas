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افتتاح" id="{32d71aff-51f4-29ad-250b-ae60f1991fd1}">
          <p14:sldIdLst>
            <p14:sldId id="256"/>
            <p14:sldId id="257"/>
            <p14:sldId id="258"/>
          </p14:sldIdLst>
        </p14:section>
        <p14:section name="المبادئ الأساسية" id="{b473eddd-b87a-08b5-4817-047014797fa7}">
          <p14:sldIdLst>
            <p14:sldId id="259"/>
            <p14:sldId id="260"/>
            <p14:sldId id="261"/>
          </p14:sldIdLst>
        </p14:section>
        <p14:section name="اللون والخط والمساحة" id="{44167b5b-2b14-9c25-1b45-3a6027c8534e}">
          <p14:sldIdLst>
            <p14:sldId id="262"/>
            <p14:sldId id="263"/>
            <p14:sldId id="264"/>
            <p14:sldId id="265"/>
          </p14:sldIdLst>
        </p14:section>
        <p14:section name="المحتوى والوسائط" id="{51af4506-9703-1570-3336-fcc8305143ef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التطبيق والتقييم" id="{bcb35d03-b3b8-1180-4582-27cdc96678d7}">
          <p14:sldIdLst>
            <p14:sldId id="272"/>
            <p14:sldId id="273"/>
            <p14:sldId id="274"/>
            <p14:sldId id="275"/>
          </p14:sldIdLst>
        </p14:section>
        <p14:section name="الختام" id="{9f910863-5264-2f3b-9b58-d0a1a06d3554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رحّب بالمشاركين. اسألهم: كم عرضًا مملًّا حضرتم هذا العام؟ ثم قدّم فكرة الجلسة: التصميم ليس تجميلًا، بل أداة تجعل الرسالة التدريبية أوضح وأسرع وصولًا. زمن الجلسة المقترح: 60 دقيقة (30 عرض + 20 ورشة + 10 تقييم).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اقرأ الأهداف بصيغة سلوكية قابلة للقياس (يشرح، يطبّق، يعيد تصميم، يقيّم). نبّه المشاركين أن الهدف الثالث سيُطبَّق عمليًا في الورشة.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نشاط سريع (دقيقتان): اعرض على المشاركين شريحة مزدحمة لمدة 5 ثوانٍ ثم اسألهم ماذا تذكّروا. ثم اربط النتيجة بالنقاط الثلاث. التصميم الجيد = رسالة أوضح، لا زخرفة إضافية.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المبادئ الأربعة معروفة في أدبيات التصميم (Robin Williams). اطلب من المشاركين إيجاد مثال لكل مبدأ في هذه الشريحة نفسها: العنوان الكبير (تباين)، البطاقات المتشابهة (تكرار)، محاذاة اليمين (محاذاة)، الأيقونة بجانب عنوانها (تقارب).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الفرق بين المستويات يجب أن يكون واضحًا (ضعف الحجم تقريبًا بين العنوان والنص). في القاعات الكشفية والمخيمات تكون المسافات أبعد: لا تنزل بالنص الأساسي عن 20 نقطة، والعناوين 28 – 36 نقطة.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نفسها تطبّق القاعدة: الأبيض والأخضر الفاتح سائدان، الأخضر الداكن ثانوي، الذهبي للتمييز فقط. اسأل المشاركين: ما ألوان هوية جمعيتكم؟ وكيف تُوزَّع على هذه النسب؟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نبّه أن بعض الخطوط العربية الجميلة (كالثلث والديواني) مكانها الشعارات والعناوين الاحتفالية فقط. اختبر الخط دائمًا على جهاز العرض الفعلي، فقد لا يكون الخط مثبتًا عليه.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الفراغ ليس مساحة ضائعة؛ إنه ما يجعل العنصر المهم مرئيًا. اطلب من المشاركين المقارنة بين المثالين قبل قراءة التعليقات.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ليست مذكّرة للمدرّب ولا كتابًا للمتدرب. التفاصيل مكانها ملاحظات المتحدث أو المادة العلمية المطبوعة. قاعدة 6×6 إرشاد لا قانون؛ الهدف هو الاختصار.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ركّز على البعد التربوي الكشفي: حماية الطفل وخصوصيته جزء من معايير التصميم الاحترافي في الحركة. اذكر أمثلة لمواقع صور مجانية مرخّصة معتمدة لدى جمعيتكم.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المشاركين إضافة أخطاء رأوها في دورات سابقة. هذه الشريحة مدخل مباشر للورشة التطبيقية.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اربط المعايير بالطريقة الكشفية: التعلّم بالممارسة يعني أن الشريحة أداة مساندة. راجع دليل الهوية البصرية لجمعيتكم قبل تصميم أي مادة رسمية.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وضّح الفرق: معايير التصميم تخص الشريحة، أما السرد والإلقاء فتخص قائد التدريب. المؤشر الليزري أداة إلقاء: وجّهه ثابتًا على النقطة ثم أطفئه، ولا تحرّكه بعصبية على الشاشة.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وزّع هذه القائمة مطبوعة على المجموعات؛ ستستخدمها في الورشة التالية وفي تقييم عروضهم طوال الدورة.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جهّز مسبقًا 4–5 شرائح ضعيفة متعمَّدة (نص كثير، ألوان متنافرة، صورة مشوّهة، خط صغير). دور مساعد قائد التدريب هنا: التجوّل بين المجموعات وطرح أسئلة توجيهية لا تقديم الحلول.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استخدم المعيار في تقييم منتجات الورشة، ثم في التقييم الذاتي لعروض المشاركين طوال الدورة. شجّع التقييم بين المجموعات (تقييم الأقران) قبل تعليق قائد التدريب.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لخّص بالرسائل الأربع. كلّف المشاركين بإعادة تصميم إحدى شرائح جلساتهم القادمة في الدورة وفق قائمة التحقق. افتح باب الأسئلة.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441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48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SA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2200" dirty="0">
                <a:solidFill>
                  <a:schemeClr val="accent2"/>
                </a:solidFill>
              </a:defRPr>
            </a:lvl1pPr>
          </a:lstStyle>
          <a:p>
            <a:pPr algn="r" indent="0" marL="0">
              <a:buNone/>
            </a:pPr>
            <a:endParaRPr lang="ar-SA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0"/>
            <a:ext cx="871697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4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SA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871697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2000" dirty="0">
                <a:solidFill>
                  <a:schemeClr val="accent2"/>
                </a:solidFill>
              </a:defRPr>
            </a:lvl1pPr>
          </a:lstStyle>
          <a:p>
            <a:pPr algn="r" indent="0" marL="0">
              <a:buNone/>
            </a:pPr>
            <a:endParaRPr lang="ar-SA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FE0D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34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endParaRPr lang="ar-SA" sz="3400" dirty="0"/>
          </a:p>
        </p:txBody>
      </p:sp>
      <p:sp>
        <p:nvSpPr>
          <p:cNvPr id="3" name="Text 0"/>
          <p:cNvSpPr/>
          <p:nvPr/>
        </p:nvSpPr>
        <p:spPr>
          <a:xfrm>
            <a:off x="3657600" y="6355080"/>
            <a:ext cx="7985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000" dirty="0">
                <a:solidFill>
                  <a:srgbClr val="5E6E66"/>
                </a:solidFill>
              </a:rPr>
              <a:t>دورة مساعد قائد تدريب  |  معايير التصميم الاحترافي</a:t>
            </a:r>
            <a:endParaRPr lang="ar-SA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FE0D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4800" b="1" dirty="0">
                <a:solidFill>
                  <a:schemeClr val="bg1"/>
                </a:solidFill>
              </a:rPr>
              <a:t>معايير التصميم الاحترافي</a:t>
            </a:r>
            <a:endParaRPr lang="ar-SA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chemeClr val="accent2"/>
                </a:solidFill>
              </a:rPr>
              <a:t>للعروض والوسائل التدريبية  —  دورة مساعد قائد تدريب</a:t>
            </a:r>
            <a:endParaRPr lang="ar-SA" sz="2200" dirty="0"/>
          </a:p>
        </p:txBody>
      </p:sp>
      <p:pic>
        <p:nvPicPr>
          <p:cNvPr id="4" name="compass" descr="بوصل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CFE0D5"/>
                </a:solidFill>
              </a:rPr>
              <a:t>الحركة الكشفية  |  جلسة تدريبية 60 دقيقة</a:t>
            </a:r>
            <a:endParaRPr lang="ar-SA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2"/>
                </a:solidFill>
              </a:rPr>
              <a:t>أهداف الجلسة</a:t>
            </a:r>
            <a:endParaRPr lang="ar-SA" sz="3400" dirty="0"/>
          </a:p>
        </p:txBody>
      </p:sp>
      <p:sp>
        <p:nvSpPr>
          <p:cNvPr id="3" name="obj-icon-1-circle"/>
          <p:cNvSpPr/>
          <p:nvPr/>
        </p:nvSpPr>
        <p:spPr>
          <a:xfrm>
            <a:off x="10774375" y="146304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obj-icon-1" descr="obj-icon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545" y="1680210"/>
            <a:ext cx="434340" cy="4343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81328"/>
            <a:ext cx="9951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يشرح المبادئ الأربعة للتصميم البصري</a:t>
            </a:r>
            <a:endParaRPr lang="ar-SA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20240"/>
            <a:ext cx="9951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5E6E66"/>
                </a:solidFill>
              </a:rPr>
              <a:t>التباين، التكرار، المحاذاة، التقارب</a:t>
            </a:r>
            <a:endParaRPr lang="ar-SA" sz="1600" dirty="0"/>
          </a:p>
        </p:txBody>
      </p:sp>
      <p:sp>
        <p:nvSpPr>
          <p:cNvPr id="7" name="obj-icon-2-circle"/>
          <p:cNvSpPr/>
          <p:nvPr/>
        </p:nvSpPr>
        <p:spPr>
          <a:xfrm>
            <a:off x="10774375" y="260604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obj-icon-2" descr="obj-icon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545" y="2823210"/>
            <a:ext cx="434340" cy="4343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2624328"/>
            <a:ext cx="9951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يطبّق قواعد اللون والخط والمساحة</a:t>
            </a:r>
            <a:endParaRPr lang="ar-SA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063240"/>
            <a:ext cx="9951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5E6E66"/>
                </a:solidFill>
              </a:rPr>
              <a:t>قاعدة 60-30-10 وسلّم أحجام الخطوط</a:t>
            </a:r>
            <a:endParaRPr lang="ar-SA" sz="1600" dirty="0"/>
          </a:p>
        </p:txBody>
      </p:sp>
      <p:sp>
        <p:nvSpPr>
          <p:cNvPr id="11" name="obj-icon-3-circle"/>
          <p:cNvSpPr/>
          <p:nvPr/>
        </p:nvSpPr>
        <p:spPr>
          <a:xfrm>
            <a:off x="10774375" y="374904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obj-icon-3" descr="obj-icon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545" y="396621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8640" y="3767328"/>
            <a:ext cx="9951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يعيد تصميم شريحة تدريبية ضعيفة</a:t>
            </a:r>
            <a:endParaRPr lang="ar-SA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4206240"/>
            <a:ext cx="9951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5E6E66"/>
                </a:solidFill>
              </a:rPr>
              <a:t>باستخدام قائمة التحقق الاحترافية</a:t>
            </a:r>
            <a:endParaRPr lang="ar-SA" sz="1600" dirty="0"/>
          </a:p>
        </p:txBody>
      </p:sp>
      <p:sp>
        <p:nvSpPr>
          <p:cNvPr id="15" name="obj-icon-4-circle"/>
          <p:cNvSpPr/>
          <p:nvPr/>
        </p:nvSpPr>
        <p:spPr>
          <a:xfrm>
            <a:off x="10774375" y="489204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obj-icon-4" descr="obj-icon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545" y="5109210"/>
            <a:ext cx="434340" cy="4343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8640" y="4910328"/>
            <a:ext cx="995141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يقيّم الوسيلة التدريبية بموضوعية</a:t>
            </a:r>
            <a:endParaRPr lang="ar-SA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5349240"/>
            <a:ext cx="9951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5E6E66"/>
                </a:solidFill>
              </a:rPr>
              <a:t>وفق معايير قابلة للقياس</a:t>
            </a:r>
            <a:endParaRPr lang="ar-SA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10972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400" i="1" dirty="0">
                <a:solidFill>
                  <a:srgbClr val="5E6E66"/>
                </a:solidFill>
              </a:rPr>
              <a:t>في نهاية الجلسة يكون المشارك قادرًا على أن: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2"/>
                </a:solidFill>
              </a:rPr>
              <a:t>لماذا يهمّ التصميم في التدريب الكشفي؟</a:t>
            </a:r>
            <a:endParaRPr lang="ar-SA" sz="3400" dirty="0"/>
          </a:p>
        </p:txBody>
      </p:sp>
      <p:sp>
        <p:nvSpPr>
          <p:cNvPr id="3" name="why-card-1"/>
          <p:cNvSpPr/>
          <p:nvPr/>
        </p:nvSpPr>
        <p:spPr>
          <a:xfrm>
            <a:off x="8188757" y="1554480"/>
            <a:ext cx="3454298" cy="420624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4" name="why-icon-1-circle"/>
          <p:cNvSpPr/>
          <p:nvPr/>
        </p:nvSpPr>
        <p:spPr>
          <a:xfrm>
            <a:off x="9367266" y="1920240"/>
            <a:ext cx="1097280" cy="10972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why-icon-1" descr="why-icon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586" y="21945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63077" y="315468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100" b="1" dirty="0">
                <a:solidFill>
                  <a:schemeClr val="tx2"/>
                </a:solidFill>
              </a:rPr>
              <a:t>يجذب الانتباه</a:t>
            </a:r>
            <a:endParaRPr lang="ar-SA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463077" y="4114800"/>
            <a:ext cx="290565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العين تقرأ الشكل قبل الكلمة؛ التصميم الجيد يوجّهها إلى الأهم</a:t>
            </a:r>
            <a:endParaRPr lang="ar-SA" sz="1600" dirty="0"/>
          </a:p>
        </p:txBody>
      </p:sp>
      <p:sp>
        <p:nvSpPr>
          <p:cNvPr id="8" name="why-card-2"/>
          <p:cNvSpPr/>
          <p:nvPr/>
        </p:nvSpPr>
        <p:spPr>
          <a:xfrm>
            <a:off x="4368698" y="1554480"/>
            <a:ext cx="3454298" cy="420624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9" name="why-icon-2-circle"/>
          <p:cNvSpPr/>
          <p:nvPr/>
        </p:nvSpPr>
        <p:spPr>
          <a:xfrm>
            <a:off x="5547208" y="1920240"/>
            <a:ext cx="1097280" cy="10972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why-icon-2" descr="why-icon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528" y="21945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43018" y="315468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100" b="1" dirty="0">
                <a:solidFill>
                  <a:schemeClr val="tx2"/>
                </a:solidFill>
              </a:rPr>
              <a:t>يقلّل الحِمل الذهني</a:t>
            </a:r>
            <a:endParaRPr lang="ar-SA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643018" y="4114800"/>
            <a:ext cx="290565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المتدرب يستمع ويقرأ معًا؛ الشريحة المزدحمة تشتّت الاستماع</a:t>
            </a:r>
            <a:endParaRPr lang="ar-SA" sz="1600" dirty="0"/>
          </a:p>
        </p:txBody>
      </p:sp>
      <p:sp>
        <p:nvSpPr>
          <p:cNvPr id="13" name="why-card-3"/>
          <p:cNvSpPr/>
          <p:nvPr/>
        </p:nvSpPr>
        <p:spPr>
          <a:xfrm>
            <a:off x="548640" y="1554480"/>
            <a:ext cx="3454298" cy="420624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14" name="why-icon-3-circle"/>
          <p:cNvSpPr/>
          <p:nvPr/>
        </p:nvSpPr>
        <p:spPr>
          <a:xfrm>
            <a:off x="1727149" y="1920240"/>
            <a:ext cx="1097280" cy="10972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why-icon-3" descr="why-icon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469" y="21945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" y="315468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100" b="1" dirty="0">
                <a:solidFill>
                  <a:schemeClr val="tx2"/>
                </a:solidFill>
              </a:rPr>
              <a:t>يعكس المصداقية</a:t>
            </a:r>
            <a:endParaRPr lang="ar-SA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114800"/>
            <a:ext cx="290565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الوسيلة المتقنة تعكس احترافية قائد التدريب والجمعية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0"/>
            <a:ext cx="87169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المبادئ الأربعة للتصميم البصري</a:t>
            </a:r>
            <a:endParaRPr lang="ar-SA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8716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chemeClr val="accent2"/>
                </a:solidFill>
              </a:rPr>
              <a:t>القاعدة التي تُبنى عليها كل شريحة ناجحة</a:t>
            </a:r>
            <a:endParaRPr lang="ar-SA" sz="2000" dirty="0"/>
          </a:p>
        </p:txBody>
      </p:sp>
      <p:sp>
        <p:nvSpPr>
          <p:cNvPr id="4" name="section-badge"/>
          <p:cNvSpPr/>
          <p:nvPr/>
        </p:nvSpPr>
        <p:spPr>
          <a:xfrm>
            <a:off x="9631375" y="2514600"/>
            <a:ext cx="2011680" cy="2011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31375" y="25146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b="1" dirty="0">
                <a:solidFill>
                  <a:schemeClr val="tx2"/>
                </a:solidFill>
              </a:rPr>
              <a:t>01</a:t>
            </a:r>
            <a:endParaRPr lang="ar-SA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FE0D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2"/>
                </a:solidFill>
              </a:rPr>
              <a:t>المبادئ الأربعة: التباين، التكرار، المحاذاة، التقارب</a:t>
            </a:r>
            <a:endParaRPr lang="ar-SA" sz="3400" dirty="0"/>
          </a:p>
        </p:txBody>
      </p:sp>
      <p:sp>
        <p:nvSpPr>
          <p:cNvPr id="3" name="crap-card-1"/>
          <p:cNvSpPr/>
          <p:nvPr/>
        </p:nvSpPr>
        <p:spPr>
          <a:xfrm>
            <a:off x="6278728" y="1417320"/>
            <a:ext cx="536432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crap-icon-1-circle"/>
          <p:cNvSpPr/>
          <p:nvPr/>
        </p:nvSpPr>
        <p:spPr>
          <a:xfrm>
            <a:off x="10591495" y="169164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crap-icon-1" descr="crap-icon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5805" y="188595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53048" y="1764792"/>
            <a:ext cx="39012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التباين</a:t>
            </a:r>
            <a:endParaRPr lang="ar-SA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553048" y="2514600"/>
            <a:ext cx="48156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اجعل المختلف مختلفًا بوضوح: حجم، لون، وزن. التباين الضعيف أسوأ من عدمه.</a:t>
            </a:r>
            <a:endParaRPr lang="ar-SA" sz="1600" dirty="0"/>
          </a:p>
        </p:txBody>
      </p:sp>
      <p:sp>
        <p:nvSpPr>
          <p:cNvPr id="8" name="crap-card-2"/>
          <p:cNvSpPr/>
          <p:nvPr/>
        </p:nvSpPr>
        <p:spPr>
          <a:xfrm>
            <a:off x="548640" y="1417320"/>
            <a:ext cx="536432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crap-icon-2-circle"/>
          <p:cNvSpPr/>
          <p:nvPr/>
        </p:nvSpPr>
        <p:spPr>
          <a:xfrm>
            <a:off x="4861408" y="169164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crap-icon-2" descr="crap-icon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718" y="188595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1764792"/>
            <a:ext cx="39012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التكرار</a:t>
            </a:r>
            <a:endParaRPr lang="ar-SA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514600"/>
            <a:ext cx="48156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كرّر الألوان والخطوط والأشكال نفسها في كل الشرائح لتصنع هوية موحّدة.</a:t>
            </a:r>
            <a:endParaRPr lang="ar-SA" sz="1600" dirty="0"/>
          </a:p>
        </p:txBody>
      </p:sp>
      <p:sp>
        <p:nvSpPr>
          <p:cNvPr id="13" name="crap-card-3"/>
          <p:cNvSpPr/>
          <p:nvPr/>
        </p:nvSpPr>
        <p:spPr>
          <a:xfrm>
            <a:off x="6278728" y="3931920"/>
            <a:ext cx="536432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crap-icon-3-circle"/>
          <p:cNvSpPr/>
          <p:nvPr/>
        </p:nvSpPr>
        <p:spPr>
          <a:xfrm>
            <a:off x="10591495" y="420624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crap-icon-3" descr="crap-icon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805" y="440055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53048" y="4279392"/>
            <a:ext cx="39012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المحاذاة</a:t>
            </a:r>
            <a:endParaRPr lang="ar-SA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553048" y="5029200"/>
            <a:ext cx="48156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لا شيء يوضع عشوائيًا؛ كل عنصر يرتبط بخط وهمي مع عنصر آخر. في العربية: يمين.</a:t>
            </a:r>
            <a:endParaRPr lang="ar-SA" sz="1600" dirty="0"/>
          </a:p>
        </p:txBody>
      </p:sp>
      <p:sp>
        <p:nvSpPr>
          <p:cNvPr id="18" name="crap-card-4"/>
          <p:cNvSpPr/>
          <p:nvPr/>
        </p:nvSpPr>
        <p:spPr>
          <a:xfrm>
            <a:off x="548640" y="3931920"/>
            <a:ext cx="536432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crap-icon-4-circle"/>
          <p:cNvSpPr/>
          <p:nvPr/>
        </p:nvSpPr>
        <p:spPr>
          <a:xfrm>
            <a:off x="4861408" y="420624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crap-icon-4" descr="crap-icon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5718" y="4400550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279392"/>
            <a:ext cx="39012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التقارب</a:t>
            </a:r>
            <a:endParaRPr lang="ar-SA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029200"/>
            <a:ext cx="48156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ما يرتبط معنًى يتقارب مكانًا، وما يختلف يتباعد؛ المسافة تحمل معنى.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2"/>
                </a:solidFill>
              </a:rPr>
              <a:t>التسلسل البصري: من يُقرأ أولًا؟</a:t>
            </a:r>
            <a:endParaRPr lang="ar-SA" sz="3400" dirty="0"/>
          </a:p>
        </p:txBody>
      </p:sp>
      <p:sp>
        <p:nvSpPr>
          <p:cNvPr id="3" name="scale-card"/>
          <p:cNvSpPr/>
          <p:nvPr/>
        </p:nvSpPr>
        <p:spPr>
          <a:xfrm>
            <a:off x="548640" y="1463040"/>
            <a:ext cx="548640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2"/>
                </a:solidFill>
              </a:rPr>
              <a:t>العنوان 28 – 36</a:t>
            </a:r>
            <a:endParaRPr lang="ar-SA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chemeClr val="tx2"/>
                </a:solidFill>
              </a:rPr>
              <a:t>عنوان فرعي 24 – 28</a:t>
            </a:r>
            <a:endParaRPr lang="ar-SA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chemeClr val="tx2"/>
                </a:solidFill>
              </a:rPr>
              <a:t>النص 20 – 24 نقطة</a:t>
            </a:r>
            <a:endParaRPr lang="ar-SA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463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5E6E66"/>
                </a:solidFill>
              </a:rPr>
              <a:t>تعليق أو مصدر 12 – 14</a:t>
            </a:r>
            <a:endParaRPr lang="ar-SA" sz="1300" dirty="0"/>
          </a:p>
        </p:txBody>
      </p:sp>
      <p:sp>
        <p:nvSpPr>
          <p:cNvPr id="8" name="step-1"/>
          <p:cNvSpPr/>
          <p:nvPr/>
        </p:nvSpPr>
        <p:spPr>
          <a:xfrm>
            <a:off x="10957255" y="16002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57255" y="1600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1</a:t>
            </a:r>
            <a:endParaRPr lang="ar-SA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645920"/>
            <a:ext cx="43735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حدّد الرسالة الأهم في الشريحة</a:t>
            </a:r>
            <a:endParaRPr lang="ar-SA" sz="1800" dirty="0"/>
          </a:p>
        </p:txBody>
      </p:sp>
      <p:sp>
        <p:nvSpPr>
          <p:cNvPr id="11" name="step-2"/>
          <p:cNvSpPr/>
          <p:nvPr/>
        </p:nvSpPr>
        <p:spPr>
          <a:xfrm>
            <a:off x="10957255" y="2679192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57255" y="26791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2</a:t>
            </a:r>
            <a:endParaRPr lang="ar-SA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724912"/>
            <a:ext cx="43735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أعطها أكبر حجم وأقوى لون</a:t>
            </a:r>
            <a:endParaRPr lang="ar-SA" sz="1800" dirty="0"/>
          </a:p>
        </p:txBody>
      </p:sp>
      <p:sp>
        <p:nvSpPr>
          <p:cNvPr id="14" name="step-3"/>
          <p:cNvSpPr/>
          <p:nvPr/>
        </p:nvSpPr>
        <p:spPr>
          <a:xfrm>
            <a:off x="10957255" y="3758184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57255" y="375818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3</a:t>
            </a:r>
            <a:endParaRPr lang="ar-SA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803904"/>
            <a:ext cx="43735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اجعل ما بعدها أصغر تدريجيًا</a:t>
            </a:r>
            <a:endParaRPr lang="ar-SA" sz="1800" dirty="0"/>
          </a:p>
        </p:txBody>
      </p:sp>
      <p:sp>
        <p:nvSpPr>
          <p:cNvPr id="17" name="step-4"/>
          <p:cNvSpPr/>
          <p:nvPr/>
        </p:nvSpPr>
        <p:spPr>
          <a:xfrm>
            <a:off x="10957255" y="4837176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57255" y="483717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4</a:t>
            </a:r>
            <a:endParaRPr lang="ar-SA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882896"/>
            <a:ext cx="437357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اختبر: ماذا يرى المتدرب في 3 ثوانٍ؟</a:t>
            </a:r>
            <a:endParaRPr lang="ar-S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0"/>
            <a:ext cx="87169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اللون والخط والمساحة</a:t>
            </a:r>
            <a:endParaRPr lang="ar-SA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8716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chemeClr val="accent2"/>
                </a:solidFill>
              </a:rPr>
              <a:t>الأدوات الثلاث التي تصنع الانطباع الأول</a:t>
            </a:r>
            <a:endParaRPr lang="ar-SA" sz="2000" dirty="0"/>
          </a:p>
        </p:txBody>
      </p:sp>
      <p:sp>
        <p:nvSpPr>
          <p:cNvPr id="4" name="section-badge"/>
          <p:cNvSpPr/>
          <p:nvPr/>
        </p:nvSpPr>
        <p:spPr>
          <a:xfrm>
            <a:off x="9631375" y="2514600"/>
            <a:ext cx="2011680" cy="2011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31375" y="25146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b="1" dirty="0">
                <a:solidFill>
                  <a:schemeClr val="tx2"/>
                </a:solidFill>
              </a:rPr>
              <a:t>02</a:t>
            </a:r>
            <a:endParaRPr lang="ar-SA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FE0D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2"/>
                </a:solidFill>
              </a:rPr>
              <a:t>الألوان: قاعدة 60 – 30 – 10</a:t>
            </a:r>
            <a:endParaRPr lang="ar-SA" sz="3400" dirty="0"/>
          </a:p>
        </p:txBody>
      </p:sp>
      <p:sp>
        <p:nvSpPr>
          <p:cNvPr id="3" name="bar-60"/>
          <p:cNvSpPr/>
          <p:nvPr/>
        </p:nvSpPr>
        <p:spPr>
          <a:xfrm>
            <a:off x="4986406" y="1554480"/>
            <a:ext cx="6656649" cy="1188720"/>
          </a:xfrm>
          <a:prstGeom prst="rect">
            <a:avLst/>
          </a:prstGeom>
          <a:solidFill>
            <a:schemeClr val="bg2"/>
          </a:solidFill>
          <a:ln w="12700">
            <a:solidFill>
              <a:srgbClr val="C9D9CE"/>
            </a:solidFill>
            <a:prstDash val="solid"/>
          </a:ln>
        </p:spPr>
      </p:sp>
      <p:sp>
        <p:nvSpPr>
          <p:cNvPr id="4" name="bar-30"/>
          <p:cNvSpPr/>
          <p:nvPr/>
        </p:nvSpPr>
        <p:spPr>
          <a:xfrm>
            <a:off x="1658082" y="1554480"/>
            <a:ext cx="3328325" cy="11887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bar-10"/>
          <p:cNvSpPr/>
          <p:nvPr/>
        </p:nvSpPr>
        <p:spPr>
          <a:xfrm>
            <a:off x="548640" y="1554480"/>
            <a:ext cx="1109442" cy="1188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986406" y="1554480"/>
            <a:ext cx="6656649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4000" b="1" dirty="0">
                <a:solidFill>
                  <a:schemeClr val="tx2"/>
                </a:solidFill>
              </a:rPr>
              <a:t>60%</a:t>
            </a:r>
            <a:endParaRPr lang="ar-SA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658082" y="1554480"/>
            <a:ext cx="332832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30%</a:t>
            </a:r>
            <a:endParaRPr lang="ar-SA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54480"/>
            <a:ext cx="110944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10%</a:t>
            </a:r>
            <a:endParaRPr lang="ar-SA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077846" y="2880360"/>
            <a:ext cx="6473769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اللون السائد</a:t>
            </a:r>
            <a:endParaRPr lang="ar-SA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077846" y="3291840"/>
            <a:ext cx="64737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E6E66"/>
                </a:solidFill>
              </a:rPr>
              <a:t>الخلفية والمساحات الكبيرة؛ هادئ ومريح للعين</a:t>
            </a:r>
            <a:endParaRPr lang="ar-SA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749522" y="2880360"/>
            <a:ext cx="314544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اللون الثانوي</a:t>
            </a:r>
            <a:endParaRPr lang="ar-SA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749522" y="3291840"/>
            <a:ext cx="314544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E6E66"/>
                </a:solidFill>
              </a:rPr>
              <a:t>العناوين والأشكال الرئيسة</a:t>
            </a:r>
            <a:endParaRPr lang="ar-SA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880360"/>
            <a:ext cx="147520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لون التمييز</a:t>
            </a:r>
            <a:endParaRPr lang="ar-SA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291840"/>
            <a:ext cx="147520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5E6E66"/>
                </a:solidFill>
              </a:rPr>
              <a:t>للأهم فقط</a:t>
            </a:r>
            <a:endParaRPr lang="ar-SA" sz="1400" dirty="0"/>
          </a:p>
        </p:txBody>
      </p:sp>
      <p:sp>
        <p:nvSpPr>
          <p:cNvPr id="15" name="color-tips"/>
          <p:cNvSpPr/>
          <p:nvPr/>
        </p:nvSpPr>
        <p:spPr>
          <a:xfrm>
            <a:off x="548640" y="4343400"/>
            <a:ext cx="11094415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6" name="tip-icon-circle"/>
          <p:cNvSpPr/>
          <p:nvPr/>
        </p:nvSpPr>
        <p:spPr>
          <a:xfrm>
            <a:off x="10637215" y="466344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tip-icon" descr="tip-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1525" y="4857750"/>
            <a:ext cx="388620" cy="38862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22960" y="4480560"/>
            <a:ext cx="94484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لوحة من 3 – 5 ألوان أساسية متناسقة، مستلهمة من هوية جمعيتك الكشفية</a:t>
            </a:r>
            <a:endParaRPr lang="ar-SA" sz="16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تأكد من التباين بين النص والخلفية: نص داكن على فاتح أو العكس</a:t>
            </a:r>
            <a:endParaRPr lang="ar-SA" sz="16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لا تعتمد على اللون وحده لنقل المعنى؛ فبعض المتدربين لديهم عمى ألوان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2"/>
                </a:solidFill>
              </a:rPr>
              <a:t>الخطوط: الوضوح أولًا</a:t>
            </a:r>
            <a:endParaRPr lang="ar-SA" sz="3400" dirty="0"/>
          </a:p>
        </p:txBody>
      </p:sp>
      <p:sp>
        <p:nvSpPr>
          <p:cNvPr id="3" name="type-card-1"/>
          <p:cNvSpPr/>
          <p:nvPr/>
        </p:nvSpPr>
        <p:spPr>
          <a:xfrm>
            <a:off x="6278728" y="14630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pic>
        <p:nvPicPr>
          <p:cNvPr id="4" name="type-icon-1" descr="افع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8655" y="16916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53048" y="1691640"/>
            <a:ext cx="3992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chemeClr val="tx2"/>
                </a:solidFill>
              </a:rPr>
              <a:t>افعل</a:t>
            </a:r>
            <a:endParaRPr lang="ar-SA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553048" y="2468880"/>
            <a:ext cx="481568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800" dirty="0">
                <a:solidFill>
                  <a:schemeClr val="tx1"/>
                </a:solidFill>
              </a:rPr>
              <a:t>خطّان كحدّ أقصى: واحد للعناوين وآخر للنص</a:t>
            </a:r>
            <a:endParaRPr lang="ar-SA" sz="18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800" dirty="0">
                <a:solidFill>
                  <a:schemeClr val="tx1"/>
                </a:solidFill>
              </a:rPr>
              <a:t>خطوط عربية واضحة مثل: Arial، Tahoma، Sakkal Majalla</a:t>
            </a:r>
            <a:endParaRPr lang="ar-SA" sz="18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800" dirty="0">
                <a:solidFill>
                  <a:schemeClr val="tx1"/>
                </a:solidFill>
              </a:rPr>
              <a:t>تباعد أسطر مريح (1.2 تقريبًا)</a:t>
            </a:r>
            <a:endParaRPr lang="ar-SA" sz="18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800" dirty="0">
                <a:solidFill>
                  <a:schemeClr val="tx1"/>
                </a:solidFill>
              </a:rPr>
              <a:t>محاذاة النص العربي إلى اليمين</a:t>
            </a:r>
            <a:endParaRPr lang="ar-SA" sz="1800" dirty="0"/>
          </a:p>
        </p:txBody>
      </p:sp>
      <p:sp>
        <p:nvSpPr>
          <p:cNvPr id="7" name="type-card-2"/>
          <p:cNvSpPr/>
          <p:nvPr/>
        </p:nvSpPr>
        <p:spPr>
          <a:xfrm>
            <a:off x="548640" y="1463040"/>
            <a:ext cx="5364328" cy="4480560"/>
          </a:xfrm>
          <a:prstGeom prst="roundRect">
            <a:avLst>
              <a:gd name="adj" fmla="val 2449"/>
            </a:avLst>
          </a:prstGeom>
          <a:solidFill>
            <a:srgbClr val="F8E8E8"/>
          </a:solidFill>
          <a:ln/>
        </p:spPr>
      </p:sp>
      <p:pic>
        <p:nvPicPr>
          <p:cNvPr id="8" name="type-icon-2" descr="تجنّب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568" y="1691640"/>
            <a:ext cx="548640" cy="548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1691640"/>
            <a:ext cx="3992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chemeClr val="accent4"/>
                </a:solidFill>
              </a:rPr>
              <a:t>تجنّب</a:t>
            </a:r>
            <a:endParaRPr lang="ar-SA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468880"/>
            <a:ext cx="481568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800" dirty="0">
                <a:solidFill>
                  <a:schemeClr val="tx1"/>
                </a:solidFill>
              </a:rPr>
              <a:t>الخطوط المزخرفة في النص الأساسي</a:t>
            </a:r>
            <a:endParaRPr lang="ar-SA" sz="18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800" dirty="0">
                <a:solidFill>
                  <a:schemeClr val="tx1"/>
                </a:solidFill>
              </a:rPr>
              <a:t>الكتابة كلها بخط عريض أو مائل</a:t>
            </a:r>
            <a:endParaRPr lang="ar-SA" sz="18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800" dirty="0">
                <a:solidFill>
                  <a:schemeClr val="tx1"/>
                </a:solidFill>
              </a:rPr>
              <a:t>النص فوق صورة مزدحمة دون تظليل</a:t>
            </a:r>
            <a:endParaRPr lang="ar-SA" sz="18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ar-SA" altLang="en-US" sz="1800" dirty="0">
                <a:solidFill>
                  <a:schemeClr val="tx1"/>
                </a:solidFill>
              </a:rPr>
              <a:t>التوسيط لفقرات طويلة</a:t>
            </a:r>
            <a:endParaRPr lang="ar-S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2"/>
                </a:solidFill>
              </a:rPr>
              <a:t>المساحة البيضاء: الفراغ جزء من التصميم</a:t>
            </a:r>
            <a:endParaRPr lang="ar-SA" sz="3400" dirty="0"/>
          </a:p>
        </p:txBody>
      </p:sp>
      <p:sp>
        <p:nvSpPr>
          <p:cNvPr id="3" name="crowded-frame"/>
          <p:cNvSpPr/>
          <p:nvPr/>
        </p:nvSpPr>
        <p:spPr>
          <a:xfrm>
            <a:off x="6522415" y="1554480"/>
            <a:ext cx="5120640" cy="3017520"/>
          </a:xfrm>
          <a:prstGeom prst="roundRect">
            <a:avLst>
              <a:gd name="adj" fmla="val 3636"/>
            </a:avLst>
          </a:prstGeom>
          <a:solidFill>
            <a:srgbClr val="F8E8E8"/>
          </a:solidFill>
          <a:ln/>
        </p:spPr>
      </p:sp>
      <p:sp>
        <p:nvSpPr>
          <p:cNvPr id="4" name="crowded-line-0"/>
          <p:cNvSpPr/>
          <p:nvPr/>
        </p:nvSpPr>
        <p:spPr>
          <a:xfrm>
            <a:off x="6659575" y="1691640"/>
            <a:ext cx="4846320" cy="256032"/>
          </a:xfrm>
          <a:prstGeom prst="rect">
            <a:avLst/>
          </a:prstGeom>
          <a:solidFill>
            <a:srgbClr val="D9A3A3"/>
          </a:solidFill>
          <a:ln/>
        </p:spPr>
      </p:sp>
      <p:sp>
        <p:nvSpPr>
          <p:cNvPr id="5" name="crowded-line-1"/>
          <p:cNvSpPr/>
          <p:nvPr/>
        </p:nvSpPr>
        <p:spPr>
          <a:xfrm>
            <a:off x="6659575" y="2084832"/>
            <a:ext cx="4480560" cy="256032"/>
          </a:xfrm>
          <a:prstGeom prst="rect">
            <a:avLst/>
          </a:prstGeom>
          <a:solidFill>
            <a:srgbClr val="D9A3A3"/>
          </a:solidFill>
          <a:ln/>
        </p:spPr>
      </p:sp>
      <p:sp>
        <p:nvSpPr>
          <p:cNvPr id="6" name="crowded-line-2"/>
          <p:cNvSpPr/>
          <p:nvPr/>
        </p:nvSpPr>
        <p:spPr>
          <a:xfrm>
            <a:off x="6659575" y="2478024"/>
            <a:ext cx="4114800" cy="256032"/>
          </a:xfrm>
          <a:prstGeom prst="rect">
            <a:avLst/>
          </a:prstGeom>
          <a:solidFill>
            <a:srgbClr val="D9A3A3"/>
          </a:solidFill>
          <a:ln/>
        </p:spPr>
      </p:sp>
      <p:sp>
        <p:nvSpPr>
          <p:cNvPr id="7" name="crowded-line-3"/>
          <p:cNvSpPr/>
          <p:nvPr/>
        </p:nvSpPr>
        <p:spPr>
          <a:xfrm>
            <a:off x="6659575" y="2871216"/>
            <a:ext cx="4846320" cy="256032"/>
          </a:xfrm>
          <a:prstGeom prst="rect">
            <a:avLst/>
          </a:prstGeom>
          <a:solidFill>
            <a:srgbClr val="D9A3A3"/>
          </a:solidFill>
          <a:ln/>
        </p:spPr>
      </p:sp>
      <p:sp>
        <p:nvSpPr>
          <p:cNvPr id="8" name="crowded-line-4"/>
          <p:cNvSpPr/>
          <p:nvPr/>
        </p:nvSpPr>
        <p:spPr>
          <a:xfrm>
            <a:off x="6659575" y="3264408"/>
            <a:ext cx="4480560" cy="256032"/>
          </a:xfrm>
          <a:prstGeom prst="rect">
            <a:avLst/>
          </a:prstGeom>
          <a:solidFill>
            <a:srgbClr val="D9A3A3"/>
          </a:solidFill>
          <a:ln/>
        </p:spPr>
      </p:sp>
      <p:sp>
        <p:nvSpPr>
          <p:cNvPr id="9" name="crowded-line-5"/>
          <p:cNvSpPr/>
          <p:nvPr/>
        </p:nvSpPr>
        <p:spPr>
          <a:xfrm>
            <a:off x="6659575" y="3657600"/>
            <a:ext cx="4114800" cy="256032"/>
          </a:xfrm>
          <a:prstGeom prst="rect">
            <a:avLst/>
          </a:prstGeom>
          <a:solidFill>
            <a:srgbClr val="D9A3A3"/>
          </a:solidFill>
          <a:ln/>
        </p:spPr>
      </p:sp>
      <p:sp>
        <p:nvSpPr>
          <p:cNvPr id="10" name="crowded-line-6"/>
          <p:cNvSpPr/>
          <p:nvPr/>
        </p:nvSpPr>
        <p:spPr>
          <a:xfrm>
            <a:off x="6659575" y="4050792"/>
            <a:ext cx="4846320" cy="256032"/>
          </a:xfrm>
          <a:prstGeom prst="rect">
            <a:avLst/>
          </a:prstGeom>
          <a:solidFill>
            <a:srgbClr val="D9A3A3"/>
          </a:solidFill>
          <a:ln/>
        </p:spPr>
      </p:sp>
      <p:sp>
        <p:nvSpPr>
          <p:cNvPr id="11" name="airy-frame"/>
          <p:cNvSpPr/>
          <p:nvPr/>
        </p:nvSpPr>
        <p:spPr>
          <a:xfrm>
            <a:off x="914400" y="1554480"/>
            <a:ext cx="51206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2" name="airy-title"/>
          <p:cNvSpPr/>
          <p:nvPr/>
        </p:nvSpPr>
        <p:spPr>
          <a:xfrm>
            <a:off x="2011680" y="2103120"/>
            <a:ext cx="3566160" cy="4114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3" name="airy-line-1"/>
          <p:cNvSpPr/>
          <p:nvPr/>
        </p:nvSpPr>
        <p:spPr>
          <a:xfrm>
            <a:off x="2743200" y="2926080"/>
            <a:ext cx="2834640" cy="201168"/>
          </a:xfrm>
          <a:prstGeom prst="rect">
            <a:avLst/>
          </a:prstGeom>
          <a:solidFill>
            <a:srgbClr val="9DBBA8"/>
          </a:solidFill>
          <a:ln/>
        </p:spPr>
      </p:sp>
      <p:sp>
        <p:nvSpPr>
          <p:cNvPr id="14" name="airy-line-2"/>
          <p:cNvSpPr/>
          <p:nvPr/>
        </p:nvSpPr>
        <p:spPr>
          <a:xfrm>
            <a:off x="3291840" y="3337560"/>
            <a:ext cx="2286000" cy="201168"/>
          </a:xfrm>
          <a:prstGeom prst="rect">
            <a:avLst/>
          </a:prstGeom>
          <a:solidFill>
            <a:srgbClr val="9DBBA8"/>
          </a:solidFill>
          <a:ln/>
        </p:spPr>
      </p:sp>
      <p:sp>
        <p:nvSpPr>
          <p:cNvPr id="15" name="airy-visual"/>
          <p:cNvSpPr/>
          <p:nvPr/>
        </p:nvSpPr>
        <p:spPr>
          <a:xfrm>
            <a:off x="1371600" y="27889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22415" y="46634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accent4"/>
                </a:solidFill>
              </a:rPr>
              <a:t>مزدحمة: العين لا تعرف أين تبدأ</a:t>
            </a:r>
            <a:endParaRPr lang="ar-SA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6634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متنفّسة: رسالة واحدة واضحة</a:t>
            </a:r>
            <a:endParaRPr lang="ar-SA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chemeClr val="tx2"/>
                </a:solidFill>
              </a:rPr>
              <a:t>اترك هامشًا لا يقل عن 1.5 سم حول الحواف، ومسافات متساوية بين العناصر المتشابهة.</a:t>
            </a:r>
            <a:endParaRPr lang="ar-S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0"/>
            <a:ext cx="87169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المحتوى والصور والأيقونات</a:t>
            </a:r>
            <a:endParaRPr lang="ar-SA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8716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chemeClr val="accent2"/>
                </a:solidFill>
              </a:rPr>
              <a:t>ما نقوله على الشريحة، وكيف نقوله</a:t>
            </a:r>
            <a:endParaRPr lang="ar-SA" sz="2000" dirty="0"/>
          </a:p>
        </p:txBody>
      </p:sp>
      <p:sp>
        <p:nvSpPr>
          <p:cNvPr id="4" name="section-badge"/>
          <p:cNvSpPr/>
          <p:nvPr/>
        </p:nvSpPr>
        <p:spPr>
          <a:xfrm>
            <a:off x="9631375" y="2514600"/>
            <a:ext cx="2011680" cy="2011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31375" y="25146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b="1" dirty="0">
                <a:solidFill>
                  <a:schemeClr val="tx2"/>
                </a:solidFill>
              </a:rPr>
              <a:t>03</a:t>
            </a:r>
            <a:endParaRPr lang="ar-SA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FE0D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2"/>
                </a:solidFill>
              </a:rPr>
              <a:t>قواعد المحتوى: قليلٌ يُفهَم خيرٌ من كثيرٍ يُنسى</a:t>
            </a:r>
            <a:endParaRPr lang="ar-SA" sz="3400" dirty="0"/>
          </a:p>
        </p:txBody>
      </p:sp>
      <p:sp>
        <p:nvSpPr>
          <p:cNvPr id="3" name="rule-card-1"/>
          <p:cNvSpPr/>
          <p:nvPr/>
        </p:nvSpPr>
        <p:spPr>
          <a:xfrm>
            <a:off x="8188757" y="1554480"/>
            <a:ext cx="3454298" cy="420624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371637" y="1783080"/>
            <a:ext cx="308853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6600" b="1" dirty="0">
                <a:solidFill>
                  <a:schemeClr val="accent2"/>
                </a:solidFill>
              </a:rPr>
              <a:t>1</a:t>
            </a:r>
            <a:endParaRPr lang="ar-SA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8463077" y="320040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فكرة واحدة لكل شريحة</a:t>
            </a:r>
            <a:endParaRPr lang="ar-SA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463077" y="4160520"/>
            <a:ext cx="290565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عنوان الشريحة جملة تلخّص رسالتها</a:t>
            </a:r>
            <a:endParaRPr lang="ar-SA" sz="1600" dirty="0"/>
          </a:p>
        </p:txBody>
      </p:sp>
      <p:sp>
        <p:nvSpPr>
          <p:cNvPr id="7" name="rule-card-2"/>
          <p:cNvSpPr/>
          <p:nvPr/>
        </p:nvSpPr>
        <p:spPr>
          <a:xfrm>
            <a:off x="4368698" y="1554480"/>
            <a:ext cx="3454298" cy="420624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51578" y="1783080"/>
            <a:ext cx="308853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6600" b="1" dirty="0">
                <a:solidFill>
                  <a:schemeClr val="accent2"/>
                </a:solidFill>
              </a:rPr>
              <a:t>6×6</a:t>
            </a:r>
            <a:endParaRPr lang="ar-SA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320040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قاعدة الستة</a:t>
            </a:r>
            <a:endParaRPr lang="ar-SA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43018" y="4160520"/>
            <a:ext cx="290565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6 أسطر كحد أقصى في الشريحة، ونحو 6 كلمات في السطر</a:t>
            </a:r>
            <a:endParaRPr lang="ar-SA" sz="1600" dirty="0"/>
          </a:p>
        </p:txBody>
      </p:sp>
      <p:sp>
        <p:nvSpPr>
          <p:cNvPr id="11" name="rule-card-3"/>
          <p:cNvSpPr/>
          <p:nvPr/>
        </p:nvSpPr>
        <p:spPr>
          <a:xfrm>
            <a:off x="548640" y="1554480"/>
            <a:ext cx="3454298" cy="420624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1783080"/>
            <a:ext cx="308853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6600" b="1" dirty="0">
                <a:solidFill>
                  <a:schemeClr val="accent2"/>
                </a:solidFill>
              </a:rPr>
              <a:t>3</a:t>
            </a:r>
            <a:endParaRPr lang="ar-SA" sz="6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20040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قاعدة الثواني الثلاث</a:t>
            </a:r>
            <a:endParaRPr lang="ar-SA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60520"/>
            <a:ext cx="290565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إن لم تُفهم الشريحة في 3 ثوانٍ فبسّطها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2"/>
                </a:solidFill>
              </a:rPr>
              <a:t>الصور والأيقونات والرسوم</a:t>
            </a:r>
            <a:endParaRPr lang="ar-SA" sz="3400" dirty="0"/>
          </a:p>
        </p:txBody>
      </p:sp>
      <p:sp>
        <p:nvSpPr>
          <p:cNvPr id="3" name="media-icon-1-circle"/>
          <p:cNvSpPr/>
          <p:nvPr/>
        </p:nvSpPr>
        <p:spPr>
          <a:xfrm>
            <a:off x="10820095" y="155448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media-icon-1" descr="media-icon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17602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78728" y="1508760"/>
            <a:ext cx="431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صور عالية الجودة</a:t>
            </a:r>
            <a:endParaRPr lang="ar-SA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278728" y="2011680"/>
            <a:ext cx="43127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E6E66"/>
                </a:solidFill>
              </a:rPr>
              <a:t>لا صور مشوّشة أو ممطوطة؛ حافظ على نسبة الطول إلى العرض</a:t>
            </a:r>
            <a:endParaRPr lang="ar-SA" sz="1500" dirty="0"/>
          </a:p>
        </p:txBody>
      </p:sp>
      <p:sp>
        <p:nvSpPr>
          <p:cNvPr id="7" name="media-icon-2-circle"/>
          <p:cNvSpPr/>
          <p:nvPr/>
        </p:nvSpPr>
        <p:spPr>
          <a:xfrm>
            <a:off x="5090008" y="155448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media-icon-2" descr="media-icon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748" y="17602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1508760"/>
            <a:ext cx="431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صور من واقع الحركة</a:t>
            </a:r>
            <a:endParaRPr lang="ar-SA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011680"/>
            <a:ext cx="43127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E6E66"/>
                </a:solidFill>
              </a:rPr>
              <a:t>صور الأنشطة والمخيمات الحقيقية أقوى من الصور الجاهزة</a:t>
            </a:r>
            <a:endParaRPr lang="ar-SA" sz="1500" dirty="0"/>
          </a:p>
        </p:txBody>
      </p:sp>
      <p:sp>
        <p:nvSpPr>
          <p:cNvPr id="11" name="media-icon-3-circle"/>
          <p:cNvSpPr/>
          <p:nvPr/>
        </p:nvSpPr>
        <p:spPr>
          <a:xfrm>
            <a:off x="10820095" y="30632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media-icon-3" descr="media-icon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5835" y="32689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78728" y="3017520"/>
            <a:ext cx="431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أيقونات من طقم واحد</a:t>
            </a:r>
            <a:endParaRPr lang="ar-SA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278728" y="3520440"/>
            <a:ext cx="43127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E6E66"/>
                </a:solidFill>
              </a:rPr>
              <a:t>نمط واحد ولون واحد في كل العرض</a:t>
            </a:r>
            <a:endParaRPr lang="ar-SA" sz="1500" dirty="0"/>
          </a:p>
        </p:txBody>
      </p:sp>
      <p:sp>
        <p:nvSpPr>
          <p:cNvPr id="15" name="media-icon-4-circle"/>
          <p:cNvSpPr/>
          <p:nvPr/>
        </p:nvSpPr>
        <p:spPr>
          <a:xfrm>
            <a:off x="5090008" y="30632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media-icon-4" descr="media-icon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748" y="326898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8640" y="3017520"/>
            <a:ext cx="431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رسم بياني بدل الجدول</a:t>
            </a:r>
            <a:endParaRPr lang="ar-SA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3520440"/>
            <a:ext cx="43127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E6E66"/>
                </a:solidFill>
              </a:rPr>
              <a:t>حين تعرض أرقامًا، أظهر المقارنة لا الأرقام الخام</a:t>
            </a:r>
            <a:endParaRPr lang="ar-SA" sz="1500" dirty="0"/>
          </a:p>
        </p:txBody>
      </p:sp>
      <p:sp>
        <p:nvSpPr>
          <p:cNvPr id="19" name="media-icon-5-circle"/>
          <p:cNvSpPr/>
          <p:nvPr/>
        </p:nvSpPr>
        <p:spPr>
          <a:xfrm>
            <a:off x="10820095" y="457200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media-icon-5" descr="media-icon-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5835" y="477774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278728" y="4526280"/>
            <a:ext cx="431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احترام الحقوق</a:t>
            </a:r>
            <a:endParaRPr lang="ar-SA" sz="2000" dirty="0"/>
          </a:p>
        </p:txBody>
      </p:sp>
      <p:sp>
        <p:nvSpPr>
          <p:cNvPr id="22" name="Text 15"/>
          <p:cNvSpPr txBox="1"/>
          <p:nvPr/>
        </p:nvSpPr>
        <p:spPr>
          <a:xfrm>
            <a:off x="6278728" y="5029200"/>
            <a:ext cx="43127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E6E66"/>
                </a:solidFill>
              </a:rPr>
              <a:t>استخدم مصادر مجانية مرخّصة واذكر المصدر</a:t>
            </a:r>
            <a:endParaRPr lang="ar-SA" sz="1500" dirty="0"/>
          </a:p>
        </p:txBody>
      </p:sp>
      <p:sp>
        <p:nvSpPr>
          <p:cNvPr id="23" name="media-icon-6-circle"/>
          <p:cNvSpPr/>
          <p:nvPr/>
        </p:nvSpPr>
        <p:spPr>
          <a:xfrm>
            <a:off x="5090008" y="457200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4" name="media-icon-6" descr="media-icon-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5748" y="4777740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8640" y="4526280"/>
            <a:ext cx="43127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خصوصية المشاركين</a:t>
            </a:r>
            <a:endParaRPr lang="ar-SA" sz="2000" dirty="0"/>
          </a:p>
        </p:txBody>
      </p:sp>
      <p:sp>
        <p:nvSpPr>
          <p:cNvPr id="26" name="Text 18"/>
          <p:cNvSpPr txBox="1"/>
          <p:nvPr/>
        </p:nvSpPr>
        <p:spPr>
          <a:xfrm>
            <a:off x="548640" y="5029200"/>
            <a:ext cx="43127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5E6E66"/>
                </a:solidFill>
              </a:rPr>
              <a:t>استأذن قبل نشر صور الفتية والأشبال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2"/>
                </a:solidFill>
              </a:rPr>
              <a:t>أخطاء شائعة وبدائلها الاحترافية</a:t>
            </a:r>
            <a:endParaRPr lang="ar-SA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53048" y="1325880"/>
            <a:ext cx="50900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4"/>
                </a:solidFill>
              </a:rPr>
              <a:t>الخطأ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50900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البديل</a:t>
            </a:r>
            <a:endParaRPr lang="ar-SA" sz="1800" dirty="0"/>
          </a:p>
        </p:txBody>
      </p:sp>
      <p:sp>
        <p:nvSpPr>
          <p:cNvPr id="5" name="mistake-1"/>
          <p:cNvSpPr/>
          <p:nvPr/>
        </p:nvSpPr>
        <p:spPr>
          <a:xfrm>
            <a:off x="6553048" y="1828800"/>
            <a:ext cx="5090008" cy="658368"/>
          </a:xfrm>
          <a:prstGeom prst="roundRect">
            <a:avLst>
              <a:gd name="adj" fmla="val 16667"/>
            </a:avLst>
          </a:prstGeom>
          <a:solidFill>
            <a:srgbClr val="F8E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35928" y="1828800"/>
            <a:ext cx="4724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نسخ فقرة كاملة من الكتاب</a:t>
            </a:r>
            <a:endParaRPr lang="ar-SA" sz="1600" dirty="0"/>
          </a:p>
        </p:txBody>
      </p:sp>
      <p:pic>
        <p:nvPicPr>
          <p:cNvPr id="7" name="arrow-1" descr="سه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248" y="1929384"/>
            <a:ext cx="457200" cy="457200"/>
          </a:xfrm>
          <a:prstGeom prst="rect">
            <a:avLst/>
          </a:prstGeom>
        </p:spPr>
      </p:pic>
      <p:sp>
        <p:nvSpPr>
          <p:cNvPr id="8" name="fix-1"/>
          <p:cNvSpPr/>
          <p:nvPr/>
        </p:nvSpPr>
        <p:spPr>
          <a:xfrm>
            <a:off x="548640" y="1828800"/>
            <a:ext cx="5090008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1828800"/>
            <a:ext cx="4724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كلمات مفتاحية + شرح شفهي</a:t>
            </a:r>
            <a:endParaRPr lang="ar-SA" sz="1600" dirty="0"/>
          </a:p>
        </p:txBody>
      </p:sp>
      <p:sp>
        <p:nvSpPr>
          <p:cNvPr id="10" name="mistake-2"/>
          <p:cNvSpPr/>
          <p:nvPr/>
        </p:nvSpPr>
        <p:spPr>
          <a:xfrm>
            <a:off x="6553048" y="2651760"/>
            <a:ext cx="5090008" cy="658368"/>
          </a:xfrm>
          <a:prstGeom prst="roundRect">
            <a:avLst>
              <a:gd name="adj" fmla="val 16667"/>
            </a:avLst>
          </a:prstGeom>
          <a:solidFill>
            <a:srgbClr val="F8E8E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35928" y="2651760"/>
            <a:ext cx="4724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خلفية مزخرفة أو صورة خلف النص</a:t>
            </a:r>
            <a:endParaRPr lang="ar-SA" sz="1600" dirty="0"/>
          </a:p>
        </p:txBody>
      </p:sp>
      <p:pic>
        <p:nvPicPr>
          <p:cNvPr id="12" name="arrow-2" descr="سه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248" y="2752344"/>
            <a:ext cx="457200" cy="457200"/>
          </a:xfrm>
          <a:prstGeom prst="rect">
            <a:avLst/>
          </a:prstGeom>
        </p:spPr>
      </p:pic>
      <p:sp>
        <p:nvSpPr>
          <p:cNvPr id="13" name="fix-2"/>
          <p:cNvSpPr/>
          <p:nvPr/>
        </p:nvSpPr>
        <p:spPr>
          <a:xfrm>
            <a:off x="548640" y="2651760"/>
            <a:ext cx="5090008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31520" y="2651760"/>
            <a:ext cx="4724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خلفية هادئة بلون واحد</a:t>
            </a:r>
            <a:endParaRPr lang="ar-SA" sz="1600" dirty="0"/>
          </a:p>
        </p:txBody>
      </p:sp>
      <p:sp>
        <p:nvSpPr>
          <p:cNvPr id="15" name="mistake-3"/>
          <p:cNvSpPr/>
          <p:nvPr/>
        </p:nvSpPr>
        <p:spPr>
          <a:xfrm>
            <a:off x="6553048" y="3474720"/>
            <a:ext cx="5090008" cy="658368"/>
          </a:xfrm>
          <a:prstGeom prst="roundRect">
            <a:avLst>
              <a:gd name="adj" fmla="val 16667"/>
            </a:avLst>
          </a:prstGeom>
          <a:solidFill>
            <a:srgbClr val="F8E8E8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735928" y="3474720"/>
            <a:ext cx="4724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حركات انتقال ومؤثرات صوتية كثيرة</a:t>
            </a:r>
            <a:endParaRPr lang="ar-SA" sz="1600" dirty="0"/>
          </a:p>
        </p:txBody>
      </p:sp>
      <p:pic>
        <p:nvPicPr>
          <p:cNvPr id="17" name="arrow-3" descr="سهم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3575304"/>
            <a:ext cx="457200" cy="457200"/>
          </a:xfrm>
          <a:prstGeom prst="rect">
            <a:avLst/>
          </a:prstGeom>
        </p:spPr>
      </p:pic>
      <p:sp>
        <p:nvSpPr>
          <p:cNvPr id="18" name="fix-3"/>
          <p:cNvSpPr/>
          <p:nvPr/>
        </p:nvSpPr>
        <p:spPr>
          <a:xfrm>
            <a:off x="548640" y="3474720"/>
            <a:ext cx="5090008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731520" y="3474720"/>
            <a:ext cx="4724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حركة بسيطة واحدة تخدم الفكرة</a:t>
            </a:r>
            <a:endParaRPr lang="ar-SA" sz="1600" dirty="0"/>
          </a:p>
        </p:txBody>
      </p:sp>
      <p:sp>
        <p:nvSpPr>
          <p:cNvPr id="20" name="mistake-4"/>
          <p:cNvSpPr/>
          <p:nvPr/>
        </p:nvSpPr>
        <p:spPr>
          <a:xfrm>
            <a:off x="6553048" y="4297680"/>
            <a:ext cx="5090008" cy="658368"/>
          </a:xfrm>
          <a:prstGeom prst="roundRect">
            <a:avLst>
              <a:gd name="adj" fmla="val 16667"/>
            </a:avLst>
          </a:prstGeom>
          <a:solidFill>
            <a:srgbClr val="F8E8E8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735928" y="4297680"/>
            <a:ext cx="4724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ألوان كثيرة متنافرة و4 خطوط</a:t>
            </a:r>
            <a:endParaRPr lang="ar-SA" sz="1600" dirty="0"/>
          </a:p>
        </p:txBody>
      </p:sp>
      <p:pic>
        <p:nvPicPr>
          <p:cNvPr id="22" name="arrow-4" descr="سهم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248" y="4398264"/>
            <a:ext cx="457200" cy="457200"/>
          </a:xfrm>
          <a:prstGeom prst="rect">
            <a:avLst/>
          </a:prstGeom>
        </p:spPr>
      </p:pic>
      <p:sp>
        <p:nvSpPr>
          <p:cNvPr id="23" name="fix-4"/>
          <p:cNvSpPr/>
          <p:nvPr/>
        </p:nvSpPr>
        <p:spPr>
          <a:xfrm>
            <a:off x="548640" y="4297680"/>
            <a:ext cx="5090008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731520" y="4297680"/>
            <a:ext cx="4724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لوحة 3 – 5 ألوان وخطّان ثابتان</a:t>
            </a:r>
            <a:endParaRPr lang="ar-SA" sz="1600" dirty="0"/>
          </a:p>
        </p:txBody>
      </p:sp>
      <p:sp>
        <p:nvSpPr>
          <p:cNvPr id="25" name="mistake-5"/>
          <p:cNvSpPr/>
          <p:nvPr/>
        </p:nvSpPr>
        <p:spPr>
          <a:xfrm>
            <a:off x="6553048" y="5120640"/>
            <a:ext cx="5090008" cy="658368"/>
          </a:xfrm>
          <a:prstGeom prst="roundRect">
            <a:avLst>
              <a:gd name="adj" fmla="val 16667"/>
            </a:avLst>
          </a:prstGeom>
          <a:solidFill>
            <a:srgbClr val="F8E8E8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6735928" y="5120640"/>
            <a:ext cx="4724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خط صغير لا يُقرأ من آخر القاعة</a:t>
            </a:r>
            <a:endParaRPr lang="ar-SA" sz="1600" dirty="0"/>
          </a:p>
        </p:txBody>
      </p:sp>
      <p:pic>
        <p:nvPicPr>
          <p:cNvPr id="27" name="arrow-5" descr="سهم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248" y="5221224"/>
            <a:ext cx="457200" cy="457200"/>
          </a:xfrm>
          <a:prstGeom prst="rect">
            <a:avLst/>
          </a:prstGeom>
        </p:spPr>
      </p:pic>
      <p:sp>
        <p:nvSpPr>
          <p:cNvPr id="28" name="fix-5"/>
          <p:cNvSpPr/>
          <p:nvPr/>
        </p:nvSpPr>
        <p:spPr>
          <a:xfrm>
            <a:off x="548640" y="5120640"/>
            <a:ext cx="5090008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731520" y="5120640"/>
            <a:ext cx="47242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20 – 24 نقطة للنص، 28 – 36 للعناوين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2"/>
                </a:solidFill>
              </a:rPr>
              <a:t>معايير خاصة بالبيئة التدريبية الكشفية</a:t>
            </a:r>
            <a:endParaRPr lang="ar-SA" sz="3400" dirty="0"/>
          </a:p>
        </p:txBody>
      </p:sp>
      <p:sp>
        <p:nvSpPr>
          <p:cNvPr id="3" name="scout-card-1"/>
          <p:cNvSpPr/>
          <p:nvPr/>
        </p:nvSpPr>
        <p:spPr>
          <a:xfrm>
            <a:off x="6278728" y="1463040"/>
            <a:ext cx="536432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scout-icon-1-circle"/>
          <p:cNvSpPr/>
          <p:nvPr/>
        </p:nvSpPr>
        <p:spPr>
          <a:xfrm>
            <a:off x="10591495" y="17830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scout-icon-1" descr="scout-icon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5805" y="197739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53048" y="1828800"/>
            <a:ext cx="39012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الهوية المؤسسية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553048" y="2514600"/>
            <a:ext cx="4815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شعار الجمعية والمنظمة الكشفية وألوانها في الموضع المعتمد</a:t>
            </a:r>
            <a:endParaRPr lang="ar-SA" sz="1600" dirty="0"/>
          </a:p>
        </p:txBody>
      </p:sp>
      <p:sp>
        <p:nvSpPr>
          <p:cNvPr id="8" name="scout-card-2"/>
          <p:cNvSpPr/>
          <p:nvPr/>
        </p:nvSpPr>
        <p:spPr>
          <a:xfrm>
            <a:off x="548640" y="1463040"/>
            <a:ext cx="536432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9" name="scout-icon-2-circle"/>
          <p:cNvSpPr/>
          <p:nvPr/>
        </p:nvSpPr>
        <p:spPr>
          <a:xfrm>
            <a:off x="4861408" y="17830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scout-icon-2" descr="scout-icon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718" y="197739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1828800"/>
            <a:ext cx="39012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بيئة العرض</a:t>
            </a:r>
            <a:endParaRPr lang="ar-SA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514600"/>
            <a:ext cx="4815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قاعات مضيئة وخيام وساحات: تباين عالٍ وخلفيات فاتحة</a:t>
            </a:r>
            <a:endParaRPr lang="ar-SA" sz="1600" dirty="0"/>
          </a:p>
        </p:txBody>
      </p:sp>
      <p:sp>
        <p:nvSpPr>
          <p:cNvPr id="13" name="scout-card-3"/>
          <p:cNvSpPr/>
          <p:nvPr/>
        </p:nvSpPr>
        <p:spPr>
          <a:xfrm>
            <a:off x="6278728" y="3749040"/>
            <a:ext cx="536432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scout-icon-3-circle"/>
          <p:cNvSpPr/>
          <p:nvPr/>
        </p:nvSpPr>
        <p:spPr>
          <a:xfrm>
            <a:off x="10591495" y="40690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scout-icon-3" descr="scout-icon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805" y="426339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53048" y="4114800"/>
            <a:ext cx="39012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الفئة المستهدفة</a:t>
            </a:r>
            <a:endParaRPr lang="ar-SA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553048" y="4800600"/>
            <a:ext cx="4815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صمّم للمتدرب لا لنفسك: لغة وأمثلة تناسب مرحلته</a:t>
            </a:r>
            <a:endParaRPr lang="ar-SA" sz="1600" dirty="0"/>
          </a:p>
        </p:txBody>
      </p:sp>
      <p:sp>
        <p:nvSpPr>
          <p:cNvPr id="18" name="scout-card-4"/>
          <p:cNvSpPr/>
          <p:nvPr/>
        </p:nvSpPr>
        <p:spPr>
          <a:xfrm>
            <a:off x="548640" y="3749040"/>
            <a:ext cx="5364328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9" name="scout-icon-4-circle"/>
          <p:cNvSpPr/>
          <p:nvPr/>
        </p:nvSpPr>
        <p:spPr>
          <a:xfrm>
            <a:off x="4861408" y="40690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scout-icon-4" descr="scout-icon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5718" y="4263390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114800"/>
            <a:ext cx="39012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التعلّم بالممارسة</a:t>
            </a:r>
            <a:endParaRPr lang="ar-SA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800600"/>
            <a:ext cx="4815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الشريحة تمهّد لنشاط؛ لا تحلّ محلّه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2"/>
                </a:solidFill>
              </a:rPr>
              <a:t>الشريحة وحدها لا تكفي: مهارات العرض الثلاث</a:t>
            </a:r>
            <a:endParaRPr lang="ar-SA" sz="3400" dirty="0"/>
          </a:p>
        </p:txBody>
      </p:sp>
      <p:sp>
        <p:nvSpPr>
          <p:cNvPr id="3" name="skill-card-1"/>
          <p:cNvSpPr/>
          <p:nvPr/>
        </p:nvSpPr>
        <p:spPr>
          <a:xfrm>
            <a:off x="8188757" y="1554480"/>
            <a:ext cx="3454298" cy="420624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4" name="skill-icon-1-circle"/>
          <p:cNvSpPr/>
          <p:nvPr/>
        </p:nvSpPr>
        <p:spPr>
          <a:xfrm>
            <a:off x="9367266" y="192024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skill-icon-1" descr="skill-icon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586" y="21945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63077" y="315468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مهارة التصميم البصري</a:t>
            </a:r>
            <a:endParaRPr lang="ar-SA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463077" y="4114800"/>
            <a:ext cx="290565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تطبيق المعايير: العنوان، الخط، الألوان، الصور، الحركات، التناسق</a:t>
            </a:r>
            <a:endParaRPr lang="ar-SA" sz="1600" dirty="0"/>
          </a:p>
        </p:txBody>
      </p:sp>
      <p:sp>
        <p:nvSpPr>
          <p:cNvPr id="8" name="skill-card-2"/>
          <p:cNvSpPr/>
          <p:nvPr/>
        </p:nvSpPr>
        <p:spPr>
          <a:xfrm>
            <a:off x="4368698" y="1554480"/>
            <a:ext cx="3454298" cy="420624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9" name="skill-icon-2-circle"/>
          <p:cNvSpPr/>
          <p:nvPr/>
        </p:nvSpPr>
        <p:spPr>
          <a:xfrm>
            <a:off x="5547208" y="192024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skill-icon-2" descr="skill-icon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528" y="21945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43018" y="315468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مهارة سرد الأفكار</a:t>
            </a:r>
            <a:endParaRPr lang="ar-SA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43018" y="4114800"/>
            <a:ext cx="290565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تسلسل منطقي: مدخل مشوّق، فكرة لكل شريحة، خاتمة تربط وتلخّص</a:t>
            </a:r>
            <a:endParaRPr lang="ar-SA" sz="1600" dirty="0"/>
          </a:p>
        </p:txBody>
      </p:sp>
      <p:sp>
        <p:nvSpPr>
          <p:cNvPr id="13" name="skill-card-3"/>
          <p:cNvSpPr/>
          <p:nvPr/>
        </p:nvSpPr>
        <p:spPr>
          <a:xfrm>
            <a:off x="548640" y="1554480"/>
            <a:ext cx="3454298" cy="420624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14" name="skill-icon-3-circle"/>
          <p:cNvSpPr/>
          <p:nvPr/>
        </p:nvSpPr>
        <p:spPr>
          <a:xfrm>
            <a:off x="1727149" y="192024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skill-icon-3" descr="skill-icon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469" y="21945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" y="315468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مهارة الإلقاء والتفاعل</a:t>
            </a:r>
            <a:endParaRPr lang="ar-SA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114800"/>
            <a:ext cx="290565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تواصل بصري، أسئلة، أنشطة؛ واستخدام المؤشر (Pointer) للإشارة لا للتشتيت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0"/>
            <a:ext cx="87169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التطبيق والتقييم</a:t>
            </a:r>
            <a:endParaRPr lang="ar-SA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8716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chemeClr val="accent2"/>
                </a:solidFill>
              </a:rPr>
              <a:t>من المعرفة إلى المهارة</a:t>
            </a:r>
            <a:endParaRPr lang="ar-SA" sz="2000" dirty="0"/>
          </a:p>
        </p:txBody>
      </p:sp>
      <p:sp>
        <p:nvSpPr>
          <p:cNvPr id="4" name="section-badge"/>
          <p:cNvSpPr/>
          <p:nvPr/>
        </p:nvSpPr>
        <p:spPr>
          <a:xfrm>
            <a:off x="9631375" y="2514600"/>
            <a:ext cx="2011680" cy="20116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31375" y="25146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b="1" dirty="0">
                <a:solidFill>
                  <a:schemeClr val="tx2"/>
                </a:solidFill>
              </a:rPr>
              <a:t>04</a:t>
            </a:r>
            <a:endParaRPr lang="ar-SA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FE0D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2"/>
                </a:solidFill>
              </a:rPr>
              <a:t>قائمة التحقق قبل العرض</a:t>
            </a:r>
            <a:endParaRPr lang="ar-SA" sz="3400" dirty="0"/>
          </a:p>
        </p:txBody>
      </p:sp>
      <p:sp>
        <p:nvSpPr>
          <p:cNvPr id="3" name="check-card-1"/>
          <p:cNvSpPr/>
          <p:nvPr/>
        </p:nvSpPr>
        <p:spPr>
          <a:xfrm>
            <a:off x="6278728" y="1508760"/>
            <a:ext cx="5364328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pic>
        <p:nvPicPr>
          <p:cNvPr id="4" name="check-icon-1" descr="تحق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7255" y="1691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61608" y="1508760"/>
            <a:ext cx="4358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للشريحة رسالة واحدة واضحة في عنوانها</a:t>
            </a:r>
            <a:endParaRPr lang="ar-SA" sz="1700" dirty="0"/>
          </a:p>
        </p:txBody>
      </p:sp>
      <p:sp>
        <p:nvSpPr>
          <p:cNvPr id="6" name="check-card-2"/>
          <p:cNvSpPr/>
          <p:nvPr/>
        </p:nvSpPr>
        <p:spPr>
          <a:xfrm>
            <a:off x="548640" y="1508760"/>
            <a:ext cx="5364328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pic>
        <p:nvPicPr>
          <p:cNvPr id="7" name="check-icon-2" descr="تحق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168" y="169164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1508760"/>
            <a:ext cx="4358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النص 20 – 24 والعناوين 28 – 36 نقطة</a:t>
            </a:r>
            <a:endParaRPr lang="ar-SA" sz="1700" dirty="0"/>
          </a:p>
        </p:txBody>
      </p:sp>
      <p:sp>
        <p:nvSpPr>
          <p:cNvPr id="9" name="check-card-3"/>
          <p:cNvSpPr/>
          <p:nvPr/>
        </p:nvSpPr>
        <p:spPr>
          <a:xfrm>
            <a:off x="6278728" y="2606040"/>
            <a:ext cx="5364328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pic>
        <p:nvPicPr>
          <p:cNvPr id="10" name="check-icon-3" descr="تحقق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278892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461608" y="2606040"/>
            <a:ext cx="4358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لوحة 3 – 5 ألوان متناسقة وخطّان كحد أقصى</a:t>
            </a:r>
            <a:endParaRPr lang="ar-SA" sz="1700" dirty="0"/>
          </a:p>
        </p:txBody>
      </p:sp>
      <p:sp>
        <p:nvSpPr>
          <p:cNvPr id="12" name="check-card-4"/>
          <p:cNvSpPr/>
          <p:nvPr/>
        </p:nvSpPr>
        <p:spPr>
          <a:xfrm>
            <a:off x="548640" y="2606040"/>
            <a:ext cx="5364328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pic>
        <p:nvPicPr>
          <p:cNvPr id="13" name="check-icon-4" descr="تحقق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7168" y="2788920"/>
            <a:ext cx="502920" cy="5029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31520" y="2606040"/>
            <a:ext cx="4358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العناصر محاذاة لليمين بهوامش متساوية</a:t>
            </a:r>
            <a:endParaRPr lang="ar-SA" sz="1700" dirty="0"/>
          </a:p>
        </p:txBody>
      </p:sp>
      <p:sp>
        <p:nvSpPr>
          <p:cNvPr id="15" name="check-card-5"/>
          <p:cNvSpPr/>
          <p:nvPr/>
        </p:nvSpPr>
        <p:spPr>
          <a:xfrm>
            <a:off x="6278728" y="3703320"/>
            <a:ext cx="5364328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pic>
        <p:nvPicPr>
          <p:cNvPr id="16" name="check-icon-5" descr="تحقق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7255" y="3886200"/>
            <a:ext cx="502920" cy="5029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461608" y="3703320"/>
            <a:ext cx="4358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كل صورة عالية الجودة وذات صلة ومرخّصة</a:t>
            </a:r>
            <a:endParaRPr lang="ar-SA" sz="1700" dirty="0"/>
          </a:p>
        </p:txBody>
      </p:sp>
      <p:sp>
        <p:nvSpPr>
          <p:cNvPr id="18" name="check-card-6"/>
          <p:cNvSpPr/>
          <p:nvPr/>
        </p:nvSpPr>
        <p:spPr>
          <a:xfrm>
            <a:off x="548640" y="3703320"/>
            <a:ext cx="5364328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pic>
        <p:nvPicPr>
          <p:cNvPr id="19" name="check-icon-6" descr="تحقق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7168" y="3886200"/>
            <a:ext cx="502920" cy="50292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31520" y="3703320"/>
            <a:ext cx="4358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لا أخطاء إملائية أو نحوية</a:t>
            </a:r>
            <a:endParaRPr lang="ar-SA" sz="1700" dirty="0"/>
          </a:p>
        </p:txBody>
      </p:sp>
      <p:sp>
        <p:nvSpPr>
          <p:cNvPr id="21" name="check-card-7"/>
          <p:cNvSpPr/>
          <p:nvPr/>
        </p:nvSpPr>
        <p:spPr>
          <a:xfrm>
            <a:off x="6278728" y="4800600"/>
            <a:ext cx="5364328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pic>
        <p:nvPicPr>
          <p:cNvPr id="22" name="check-icon-7" descr="تحقق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7255" y="4983480"/>
            <a:ext cx="502920" cy="50292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461608" y="4800600"/>
            <a:ext cx="4358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الشعار والهوية في المكان المعتمد</a:t>
            </a:r>
            <a:endParaRPr lang="ar-SA" sz="1700" dirty="0"/>
          </a:p>
        </p:txBody>
      </p:sp>
      <p:sp>
        <p:nvSpPr>
          <p:cNvPr id="24" name="check-card-8"/>
          <p:cNvSpPr/>
          <p:nvPr/>
        </p:nvSpPr>
        <p:spPr>
          <a:xfrm>
            <a:off x="548640" y="4800600"/>
            <a:ext cx="5364328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pic>
        <p:nvPicPr>
          <p:cNvPr id="25" name="check-icon-8" descr="تحقق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7168" y="4983480"/>
            <a:ext cx="502920" cy="50292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31520" y="4800600"/>
            <a:ext cx="4358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جُرِّب العرض على جهاز العرض الفعلي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2"/>
                </a:solidFill>
              </a:rPr>
              <a:t>ورشة عمل: أعد تصميم الشريحة</a:t>
            </a:r>
            <a:endParaRPr lang="ar-SA" sz="3400" dirty="0"/>
          </a:p>
        </p:txBody>
      </p:sp>
      <p:sp>
        <p:nvSpPr>
          <p:cNvPr id="3" name="ws-card-1"/>
          <p:cNvSpPr/>
          <p:nvPr/>
        </p:nvSpPr>
        <p:spPr>
          <a:xfrm>
            <a:off x="8188757" y="1417320"/>
            <a:ext cx="3454298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pic>
        <p:nvPicPr>
          <p:cNvPr id="4" name="ws-icon-1" descr="المجموعات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8655" y="16916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417357" y="1554480"/>
            <a:ext cx="21741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CFE0D5"/>
                </a:solidFill>
              </a:rPr>
              <a:t>المجموعات</a:t>
            </a:r>
            <a:endParaRPr lang="ar-SA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417357" y="1965960"/>
            <a:ext cx="21741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5 – 6 مشاركين</a:t>
            </a:r>
            <a:endParaRPr lang="ar-SA" sz="2000" dirty="0"/>
          </a:p>
        </p:txBody>
      </p:sp>
      <p:sp>
        <p:nvSpPr>
          <p:cNvPr id="7" name="ws-card-2"/>
          <p:cNvSpPr/>
          <p:nvPr/>
        </p:nvSpPr>
        <p:spPr>
          <a:xfrm>
            <a:off x="4368698" y="1417320"/>
            <a:ext cx="3454298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pic>
        <p:nvPicPr>
          <p:cNvPr id="8" name="ws-icon-2" descr="الزم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597" y="1691640"/>
            <a:ext cx="640080" cy="6400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97298" y="1554480"/>
            <a:ext cx="21741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CFE0D5"/>
                </a:solidFill>
              </a:rPr>
              <a:t>الزمن</a:t>
            </a:r>
            <a:endParaRPr lang="ar-SA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597298" y="1965960"/>
            <a:ext cx="21741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20 دقيقة</a:t>
            </a:r>
            <a:endParaRPr lang="ar-SA" sz="2000" dirty="0"/>
          </a:p>
        </p:txBody>
      </p:sp>
      <p:sp>
        <p:nvSpPr>
          <p:cNvPr id="11" name="ws-card-3"/>
          <p:cNvSpPr/>
          <p:nvPr/>
        </p:nvSpPr>
        <p:spPr>
          <a:xfrm>
            <a:off x="548640" y="1417320"/>
            <a:ext cx="3454298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pic>
        <p:nvPicPr>
          <p:cNvPr id="12" name="ws-icon-3" descr="الماد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538" y="169164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77240" y="1554480"/>
            <a:ext cx="21741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CFE0D5"/>
                </a:solidFill>
              </a:rPr>
              <a:t>المادة</a:t>
            </a:r>
            <a:endParaRPr lang="ar-SA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777240" y="1965960"/>
            <a:ext cx="21741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شريحة ضعيفة</a:t>
            </a:r>
            <a:endParaRPr lang="ar-SA" sz="2000" dirty="0"/>
          </a:p>
        </p:txBody>
      </p:sp>
      <p:sp>
        <p:nvSpPr>
          <p:cNvPr id="15" name="wstep-1"/>
          <p:cNvSpPr/>
          <p:nvPr/>
        </p:nvSpPr>
        <p:spPr>
          <a:xfrm>
            <a:off x="11048695" y="288036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11048695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1</a:t>
            </a:r>
            <a:endParaRPr lang="ar-SA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2880360"/>
            <a:ext cx="92198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حلّلوا الشريحة واكتبوا 5 مشكلات وفق المبادئ الأربعة</a:t>
            </a:r>
            <a:endParaRPr lang="ar-SA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288036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1600" b="1" dirty="0">
                <a:solidFill>
                  <a:srgbClr val="5E6E66"/>
                </a:solidFill>
              </a:rPr>
              <a:t>5 د</a:t>
            </a:r>
            <a:endParaRPr lang="ar-SA" sz="1600" dirty="0"/>
          </a:p>
        </p:txBody>
      </p:sp>
      <p:sp>
        <p:nvSpPr>
          <p:cNvPr id="19" name="wstep-2"/>
          <p:cNvSpPr/>
          <p:nvPr/>
        </p:nvSpPr>
        <p:spPr>
          <a:xfrm>
            <a:off x="11048695" y="3685032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11048695" y="3685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2</a:t>
            </a:r>
            <a:endParaRPr lang="ar-SA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1645920" y="3685032"/>
            <a:ext cx="92198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ارسموا التصميم الجديد على ورقة (اسكتش) قبل الحاسوب</a:t>
            </a:r>
            <a:endParaRPr lang="ar-SA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3685032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1600" b="1" dirty="0">
                <a:solidFill>
                  <a:srgbClr val="5E6E66"/>
                </a:solidFill>
              </a:rPr>
              <a:t>5 د</a:t>
            </a:r>
            <a:endParaRPr lang="ar-SA" sz="1600" dirty="0"/>
          </a:p>
        </p:txBody>
      </p:sp>
      <p:sp>
        <p:nvSpPr>
          <p:cNvPr id="23" name="wstep-3"/>
          <p:cNvSpPr/>
          <p:nvPr/>
        </p:nvSpPr>
        <p:spPr>
          <a:xfrm>
            <a:off x="11048695" y="4489704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11048695" y="44897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3</a:t>
            </a:r>
            <a:endParaRPr lang="ar-SA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1645920" y="4489704"/>
            <a:ext cx="92198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نفّذوا التصميم مستخدمين قائمة التحقق</a:t>
            </a:r>
            <a:endParaRPr lang="ar-SA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4489704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1600" b="1" dirty="0">
                <a:solidFill>
                  <a:srgbClr val="5E6E66"/>
                </a:solidFill>
              </a:rPr>
              <a:t>7 د</a:t>
            </a:r>
            <a:endParaRPr lang="ar-SA" sz="1600" dirty="0"/>
          </a:p>
        </p:txBody>
      </p:sp>
      <p:sp>
        <p:nvSpPr>
          <p:cNvPr id="27" name="wstep-4"/>
          <p:cNvSpPr/>
          <p:nvPr/>
        </p:nvSpPr>
        <p:spPr>
          <a:xfrm>
            <a:off x="11048695" y="5294376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11048695" y="52943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4</a:t>
            </a:r>
            <a:endParaRPr lang="ar-SA" sz="2000" dirty="0"/>
          </a:p>
        </p:txBody>
      </p:sp>
      <p:sp>
        <p:nvSpPr>
          <p:cNvPr id="29" name="Text 24"/>
          <p:cNvSpPr txBox="1"/>
          <p:nvPr/>
        </p:nvSpPr>
        <p:spPr>
          <a:xfrm>
            <a:off x="1645920" y="5294376"/>
            <a:ext cx="92198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اعرضوا قبل / بعد في دقيقة واحدة لكل مجموعة</a:t>
            </a:r>
            <a:endParaRPr lang="ar-SA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548640" y="5294376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1600" b="1" dirty="0">
                <a:solidFill>
                  <a:srgbClr val="5E6E66"/>
                </a:solidFill>
              </a:rPr>
              <a:t>3 د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2"/>
                </a:solidFill>
              </a:rPr>
              <a:t>معايير تقييم المنتج التدريبي</a:t>
            </a:r>
            <a:endParaRPr lang="ar-SA" sz="3400" dirty="0"/>
          </a:p>
        </p:txBody>
      </p:sp>
      <p:graphicFrame>
        <p:nvGraphicFramePr>
          <p:cNvPr id="21" name="rubri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2651760"/>
                <a:gridCol w="3139135"/>
              </a:tblGrid>
              <a:tr h="65836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500" b="1" dirty="0">
                          <a:solidFill>
                            <a:srgbClr val="FFFFFF"/>
                          </a:solidFill>
                        </a:rPr>
                        <a:t>ممتاز (3)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500" b="1" dirty="0">
                          <a:solidFill>
                            <a:srgbClr val="FFFFFF"/>
                          </a:solidFill>
                        </a:rPr>
                        <a:t>مقبول (2)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500" b="1" dirty="0">
                          <a:solidFill>
                            <a:srgbClr val="FFFFFF"/>
                          </a:solidFill>
                        </a:rPr>
                        <a:t>يحتاج تطوير (1)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500" b="1" dirty="0">
                          <a:solidFill>
                            <a:srgbClr val="FFFFFF"/>
                          </a:solidFill>
                        </a:rPr>
                        <a:t>المعيار</a:t>
                      </a:r>
                      <a:endParaRPr lang="ar-SA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000000"/>
                          </a:solidFill>
                        </a:rPr>
                        <a:t>رسالة واحدة واضحة</a:t>
                      </a:r>
                      <a:endParaRPr lang="ar-SA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000000"/>
                          </a:solidFill>
                        </a:rPr>
                        <a:t>رسالة واضحة مع حشو</a:t>
                      </a:r>
                      <a:endParaRPr lang="ar-SA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000000"/>
                          </a:solidFill>
                        </a:rPr>
                        <a:t>أفكار متعددة متداخلة</a:t>
                      </a:r>
                      <a:endParaRPr lang="ar-SA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b="1" dirty="0">
                          <a:solidFill>
                            <a:srgbClr val="1F4D3A"/>
                          </a:solidFill>
                        </a:rPr>
                        <a:t>وضوح الرسالة</a:t>
                      </a:r>
                      <a:endParaRPr lang="ar-SA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000000"/>
                          </a:solidFill>
                        </a:rPr>
                        <a:t>تسلسل بصري جليّ</a:t>
                      </a:r>
                      <a:endParaRPr lang="ar-SA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000000"/>
                          </a:solidFill>
                        </a:rPr>
                        <a:t>تسلسل جزئي</a:t>
                      </a:r>
                      <a:endParaRPr lang="ar-SA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000000"/>
                          </a:solidFill>
                        </a:rPr>
                        <a:t>كل العناصر بالوزن نفسه</a:t>
                      </a:r>
                      <a:endParaRPr lang="ar-SA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b="1" dirty="0">
                          <a:solidFill>
                            <a:srgbClr val="1F4D3A"/>
                          </a:solidFill>
                        </a:rPr>
                        <a:t>التباين والتسلسل</a:t>
                      </a:r>
                      <a:endParaRPr lang="ar-SA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000000"/>
                          </a:solidFill>
                        </a:rPr>
                        <a:t>محاذاة ومسافات منتظمة</a:t>
                      </a:r>
                      <a:endParaRPr lang="ar-SA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000000"/>
                          </a:solidFill>
                        </a:rPr>
                        <a:t>بعض العشوائية</a:t>
                      </a:r>
                      <a:endParaRPr lang="ar-SA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000000"/>
                          </a:solidFill>
                        </a:rPr>
                        <a:t>عناصر مبعثرة</a:t>
                      </a:r>
                      <a:endParaRPr lang="ar-SA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b="1" dirty="0">
                          <a:solidFill>
                            <a:srgbClr val="1F4D3A"/>
                          </a:solidFill>
                        </a:rPr>
                        <a:t>المحاذاة والتقارب</a:t>
                      </a:r>
                      <a:endParaRPr lang="ar-SA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000000"/>
                          </a:solidFill>
                        </a:rPr>
                        <a:t>ألوان وخطوط منسجمة</a:t>
                      </a:r>
                      <a:endParaRPr lang="ar-SA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000000"/>
                          </a:solidFill>
                        </a:rPr>
                        <a:t>خروج بسيط عن القاعدة</a:t>
                      </a:r>
                      <a:endParaRPr lang="ar-SA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000000"/>
                          </a:solidFill>
                        </a:rPr>
                        <a:t>ألوان وخطوط متنافرة</a:t>
                      </a:r>
                      <a:endParaRPr lang="ar-SA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b="1" dirty="0">
                          <a:solidFill>
                            <a:srgbClr val="1F4D3A"/>
                          </a:solidFill>
                        </a:rPr>
                        <a:t>اللون والخط</a:t>
                      </a:r>
                      <a:endParaRPr lang="ar-SA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000000"/>
                          </a:solidFill>
                        </a:rPr>
                        <a:t>مقروءة من آخر القاعة</a:t>
                      </a:r>
                      <a:endParaRPr lang="ar-SA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000000"/>
                          </a:solidFill>
                        </a:rPr>
                        <a:t>مقروءة من المنتصف</a:t>
                      </a:r>
                      <a:endParaRPr lang="ar-SA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dirty="0">
                          <a:solidFill>
                            <a:srgbClr val="000000"/>
                          </a:solidFill>
                        </a:rPr>
                        <a:t>صعبة القراءة</a:t>
                      </a:r>
                      <a:endParaRPr lang="ar-SA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400" b="1" dirty="0">
                          <a:solidFill>
                            <a:srgbClr val="1F4D3A"/>
                          </a:solidFill>
                        </a:rPr>
                        <a:t>المقروئية</a:t>
                      </a:r>
                      <a:endParaRPr lang="ar-SA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3212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tx2"/>
                </a:solidFill>
              </a:rPr>
              <a:t>الدرجة القصوى 15  •  12 فأكثر: منتج احترافي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E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4800" b="1" dirty="0">
                <a:solidFill>
                  <a:schemeClr val="bg1"/>
                </a:solidFill>
              </a:rPr>
              <a:t>تُلاحَظ الرسالة… لا التصميم</a:t>
            </a:r>
            <a:endParaRPr lang="ar-SA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chemeClr val="accent2"/>
                </a:solidFill>
              </a:rPr>
              <a:t>وضوح  •  بساطة  •  اتساق  •  احترام للمتدرب</a:t>
            </a:r>
            <a:endParaRPr lang="ar-SA" sz="2200" dirty="0"/>
          </a:p>
        </p:txBody>
      </p:sp>
      <p:pic>
        <p:nvPicPr>
          <p:cNvPr id="4" name="closing-icon" descr="مخي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CFE0D5"/>
                </a:solidFill>
              </a:rPr>
              <a:t>كن مستعدًّا</a:t>
            </a:r>
            <a:endParaRPr lang="ar-SA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out Trainer">
  <a:themeElements>
    <a:clrScheme name="Scout Trainer">
      <a:dk1>
        <a:srgbClr val="1C2B24"/>
      </a:dk1>
      <a:lt1>
        <a:srgbClr val="FFFFFF"/>
      </a:lt1>
      <a:dk2>
        <a:srgbClr val="1F4D3A"/>
      </a:dk2>
      <a:lt2>
        <a:srgbClr val="EAF2EC"/>
      </a:lt2>
      <a:accent1>
        <a:srgbClr val="1F4D3A"/>
      </a:accent1>
      <a:accent2>
        <a:srgbClr val="D9A425"/>
      </a:accent2>
      <a:accent3>
        <a:srgbClr val="2E6B50"/>
      </a:accent3>
      <a:accent4>
        <a:srgbClr val="B23A3A"/>
      </a:accent4>
      <a:accent5>
        <a:srgbClr val="5E6E66"/>
      </a:accent5>
      <a:accent6>
        <a:srgbClr val="8FB59E"/>
      </a:accent6>
      <a:hlink>
        <a:srgbClr val="2E6B50"/>
      </a:hlink>
      <a:folHlink>
        <a:srgbClr val="5E6E66"/>
      </a:folHlink>
    </a:clrScheme>
    <a:fontScheme name="Scout Train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معايير التصميم الاحترافي</dc:title>
  <dc:subject>دورة مساعد قائد تدريب</dc:subject>
  <dc:creator>فريق التدريب الكشفي</dc:creator>
  <cp:lastModifiedBy>فريق التدريب الكشفي</cp:lastModifiedBy>
  <cp:revision>1</cp:revision>
  <dcterms:created xsi:type="dcterms:W3CDTF">2026-10-29T14:29:31Z</dcterms:created>
  <dcterms:modified xsi:type="dcterms:W3CDTF">2026-10-29T14:29:31Z</dcterms:modified>
</cp:coreProperties>
</file>